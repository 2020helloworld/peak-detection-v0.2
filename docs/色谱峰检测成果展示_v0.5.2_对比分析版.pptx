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914400"/>
            <a:ext cx="4754880" cy="4754880"/>
          </a:xfrm>
          <a:prstGeom prst="ellipse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170432"/>
            <a:ext cx="80467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色谱峰检测成果展示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975104"/>
            <a:ext cx="8229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D9EAF2"/>
                </a:solidFill>
                <a:latin typeface="Microsoft YaHei"/>
              </a:rPr>
              <a:t>从原始谱图到峰位、峰型、边界与置信度输出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761488"/>
            <a:ext cx="11430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v0.5.2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2788920"/>
            <a:ext cx="71323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7D9E8"/>
                </a:solidFill>
                <a:latin typeface="Microsoft YaHei"/>
              </a:rPr>
              <a:t>41 条独立曲线 · 6 个参考模板槽 · 可审计 CSV + 图像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3895344"/>
            <a:ext cx="6492240" cy="1207008"/>
          </a:xfrm>
          <a:prstGeom prst="roundRect">
            <a:avLst/>
          </a:prstGeom>
          <a:solidFill>
            <a:srgbClr val="243B53"/>
          </a:solidFill>
          <a:ln w="10160">
            <a:solidFill>
              <a:srgbClr val="3E5C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4169663"/>
            <a:ext cx="6035040" cy="68580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50" b="1">
                <a:solidFill>
                  <a:srgbClr val="FFFFFF"/>
                </a:solidFill>
                <a:latin typeface="Microsoft YaHei"/>
              </a:rPr>
              <a:t>聚焦已实现能力、代表性修正、可验证成果与边界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50" b="0">
                <a:solidFill>
                  <a:srgbClr val="B7D9E8"/>
                </a:solidFill>
                <a:latin typeface="Microsoft YaHei"/>
              </a:rPr>
              <a:t>所有数字和案例均直接读取当前 v0.5.2 正式输出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163056"/>
            <a:ext cx="18288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FB8CC"/>
                </a:solidFill>
                <a:latin typeface="Microsoft YaHei"/>
              </a:rPr>
              <a:t>2026-07-18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126480"/>
            <a:ext cx="5029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一页看懂当前成果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78408"/>
            <a:ext cx="4709160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23" y="978408"/>
            <a:ext cx="4672952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504688" y="1097280"/>
            <a:ext cx="1874519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04688" y="1097280"/>
            <a:ext cx="73152" cy="1042415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87568" y="1188720"/>
            <a:ext cx="1600199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9E5B"/>
                </a:solidFill>
                <a:latin typeface="Microsoft YaHei"/>
              </a:rPr>
              <a:t>231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7568" y="1655064"/>
            <a:ext cx="1600199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已确认峰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87568" y="1901952"/>
            <a:ext cx="1600199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峰置信度 ≥ 75%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2088" y="1097280"/>
            <a:ext cx="1874519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62088" y="1097280"/>
            <a:ext cx="73152" cy="1042415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7" y="1188720"/>
            <a:ext cx="1600199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3A712"/>
                </a:solidFill>
                <a:latin typeface="Microsoft YaHei"/>
              </a:rPr>
              <a:t>380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7" y="1655064"/>
            <a:ext cx="1600199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待复核事件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7" y="1901952"/>
            <a:ext cx="1600199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保留完整证据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19488" y="1097280"/>
            <a:ext cx="1874519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19488" y="1097280"/>
            <a:ext cx="73152" cy="1042415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02367" y="1188720"/>
            <a:ext cx="1600199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D64550"/>
                </a:solidFill>
                <a:latin typeface="Microsoft YaHei"/>
              </a:rPr>
              <a:t>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7" y="1655064"/>
            <a:ext cx="1600199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干扰／伪峰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7" y="1901952"/>
            <a:ext cx="1600199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电形态或低可信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04688" y="2432304"/>
            <a:ext cx="5989320" cy="294436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706624"/>
            <a:ext cx="5486400" cy="233172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50" b="1">
                <a:solidFill>
                  <a:srgbClr val="2E9E5B"/>
                </a:solidFill>
                <a:latin typeface="Microsoft YaHei"/>
              </a:rPr>
              <a:t>✓ 保留未经处理的原始谱线，便于逐图对照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50" b="1">
                <a:solidFill>
                  <a:srgbClr val="2E9E5B"/>
                </a:solidFill>
                <a:latin typeface="Microsoft YaHei"/>
              </a:rPr>
              <a:t>✓ 峰顶时间、校正值、起止边界与综合置信度同步输出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50" b="1">
                <a:solidFill>
                  <a:srgbClr val="2E9E5B"/>
                </a:solidFill>
                <a:latin typeface="Microsoft YaHei"/>
              </a:rPr>
              <a:t>✓ 正峰、负峰、峰顶尖点、电干扰、鼓包与背景残差可区分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50" b="1">
                <a:solidFill>
                  <a:srgbClr val="2E9E5B"/>
                </a:solidFill>
                <a:latin typeface="Microsoft YaHei"/>
              </a:rPr>
              <a:t>✓ review 不隐藏、不强行确认，可直接形成复核清单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50" b="1">
                <a:solidFill>
                  <a:srgbClr val="102A43"/>
                </a:solidFill>
                <a:latin typeface="Microsoft YaHei"/>
              </a:rPr>
              <a:t>已形成可批量运行、可解释、可回归验证的工程初版。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项目目标与数据覆盖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5897880" cy="4480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31586"/>
            <a:ext cx="5897880" cy="339249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56832" y="1078992"/>
            <a:ext cx="141732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56832" y="1078992"/>
            <a:ext cx="73152" cy="1042415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9712" y="1170432"/>
            <a:ext cx="114300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F80ED"/>
                </a:solidFill>
                <a:latin typeface="Microsoft YaHei"/>
              </a:rPr>
              <a:t>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9712" y="1636776"/>
            <a:ext cx="114300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独立曲线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0456" y="1078992"/>
            <a:ext cx="141732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0456" y="1078992"/>
            <a:ext cx="73152" cy="1042415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1170432"/>
            <a:ext cx="114300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E8F87"/>
                </a:solidFill>
                <a:latin typeface="Microsoft YaHe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1636776"/>
            <a:ext cx="114300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参考标气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1078992"/>
            <a:ext cx="141732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84080" y="1078992"/>
            <a:ext cx="73152" cy="1042415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59" y="1170432"/>
            <a:ext cx="114300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6C5CE7"/>
                </a:solidFill>
                <a:latin typeface="Microsoft YaHe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9" y="1636776"/>
            <a:ext cx="114300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模板槽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56832" y="2450592"/>
            <a:ext cx="4572000" cy="2999232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C9D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2688336"/>
            <a:ext cx="4069080" cy="242316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70" b="1">
                <a:solidFill>
                  <a:srgbClr val="2F80ED"/>
                </a:solidFill>
                <a:latin typeface="Microsoft YaHei"/>
              </a:rPr>
              <a:t>目标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定位每个候选事件，判断峰型，并给出可核验的置信度与边界。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70" b="1">
                <a:solidFill>
                  <a:srgbClr val="2F80ED"/>
                </a:solidFill>
                <a:latin typeface="Microsoft YaHei"/>
              </a:rPr>
              <a:t>覆盖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参考标气、鼓包、噪声、负峰、电信号干扰五类工况。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70" b="1">
                <a:solidFill>
                  <a:srgbClr val="2F80ED"/>
                </a:solidFill>
                <a:latin typeface="Microsoft YaHei"/>
              </a:rPr>
              <a:t>评估原则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70" b="1">
                <a:solidFill>
                  <a:srgbClr val="D64550"/>
                </a:solidFill>
                <a:latin typeface="Microsoft YaHei"/>
              </a:rPr>
              <a:t>算法输出是待验证结论；没有人工标签时不宣称等同真值。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检测结果图怎么读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7424927" cy="5230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46151"/>
            <a:ext cx="7424927" cy="271316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38160" y="987552"/>
            <a:ext cx="3401568" cy="523036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216152"/>
            <a:ext cx="2962656" cy="4700016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80" b="1">
                <a:solidFill>
                  <a:srgbClr val="102A43"/>
                </a:solidFill>
                <a:latin typeface="Microsoft YaHei"/>
              </a:rPr>
              <a:t>完整图第一层｜原始谱线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本页左侧未展示；完整图中为原始 CSV 采样。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80" b="1">
                <a:solidFill>
                  <a:srgbClr val="102A43"/>
                </a:solidFill>
                <a:latin typeface="Microsoft YaHei"/>
              </a:rPr>
              <a:t>中图｜基线证据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红／紫线是背景估计；淡黄为宽背景或鼓包区域。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80" b="1">
                <a:solidFill>
                  <a:srgbClr val="102A43"/>
                </a:solidFill>
                <a:latin typeface="Microsoft YaHei"/>
              </a:rPr>
              <a:t>下图｜检测与分类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绿点=确认；橙三角=复核；红叉=干扰；灰点=背景残差。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80" b="1">
                <a:solidFill>
                  <a:srgbClr val="2E9E5B"/>
                </a:solidFill>
                <a:latin typeface="Microsoft YaHei"/>
              </a:rPr>
              <a:t>淡绿色矩形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T1–T6 容差窗，不代表已经检测到峰。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80" b="1">
                <a:solidFill>
                  <a:srgbClr val="0E8F87"/>
                </a:solidFill>
                <a:latin typeface="Microsoft YaHei"/>
              </a:rPr>
              <a:t>青色左右三角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确认峰起止边界；峰顶标签含时间和校正值。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参考模板：T1–T6 是相对位置槽，不是化学名称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6601968" cy="4224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636503"/>
            <a:ext cx="6601968" cy="305464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33488" y="1051560"/>
            <a:ext cx="4187952" cy="4224528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C8E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62088" y="1280160"/>
            <a:ext cx="3749039" cy="379476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1">
                <a:solidFill>
                  <a:srgbClr val="2E9E5B"/>
                </a:solidFill>
                <a:latin typeface="Microsoft YaHei"/>
              </a:rPr>
              <a:t>模板来自 5 份参考标气的稳定峰族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T1  0.365 ± 0.045 min · 支持 5/5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T2  0.485 ± 0.045 min · 支持 5/5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T3  1.817 ± 0.091 min · 支持 5/5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T4  2.452 ± 0.123 min · 支持 5/5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T5  3.004 ± 0.150 min · 支持 4/5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T6  4.248 ± 0.212 min · 支持 5/5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1">
                <a:solidFill>
                  <a:srgbClr val="D64550"/>
                </a:solidFill>
                <a:latin typeface="Microsoft YaHei"/>
              </a:rPr>
              <a:t>跨机型含义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当前仅表示相似保留时间族；补充通道／组分映射后才能命名 H₂、CH₄ 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50408"/>
            <a:ext cx="10698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2A43"/>
                </a:solidFill>
                <a:latin typeface="Microsoft YaHei"/>
              </a:rPr>
              <a:t>模板提供匹配证据；形态异常仍可判为电干扰，保留时间不能“救回”强毛刺。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代表性修正｜A7：尖顶不再等于整峰是电干扰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896112"/>
            <a:ext cx="11045952" cy="47548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1887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E9E5B"/>
                </a:solidFill>
                <a:latin typeface="Microsoft YaHei"/>
              </a:rPr>
              <a:t>修正结果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987552"/>
            <a:ext cx="9464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43B53"/>
                </a:solidFill>
                <a:latin typeface="Microsoft YaHei"/>
              </a:rPr>
              <a:t>两个事件保留“峰顶尖点”标记，同时确认其完整色谱峰体。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5541264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51189"/>
            <a:ext cx="5541264" cy="137157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217920" y="1536192"/>
            <a:ext cx="532180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472673"/>
            <a:ext cx="5321808" cy="152860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40080" y="5138928"/>
            <a:ext cx="205740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138928"/>
            <a:ext cx="73152" cy="1042415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5230368"/>
            <a:ext cx="178308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9E5B"/>
                </a:solidFill>
                <a:latin typeface="Microsoft YaHei"/>
              </a:rPr>
              <a:t>82.5%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696712"/>
            <a:ext cx="178308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0.4333 min 峰置信度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5943600"/>
            <a:ext cx="1783080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峰体分 0.955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52928" y="5138928"/>
            <a:ext cx="205740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52928" y="5138928"/>
            <a:ext cx="73152" cy="1042415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35808" y="5230368"/>
            <a:ext cx="178308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9E5B"/>
                </a:solidFill>
                <a:latin typeface="Microsoft YaHei"/>
              </a:rPr>
              <a:t>90.0%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35808" y="5696712"/>
            <a:ext cx="178308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0.5650 min 峰置信度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5943600"/>
            <a:ext cx="1783080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峰体分 0.961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84064" y="5138928"/>
            <a:ext cx="6309360" cy="1042415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C8E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21808" y="5385816"/>
            <a:ext cx="585216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243B53"/>
                </a:solidFill>
                <a:latin typeface="Microsoft YaHei"/>
              </a:rPr>
              <a:t>关键证据：FWHM 约 0.071/0.093 min、对称度 0.994/0.973；去尖后峰高仍保留 99.5% / 99.8%。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代表性工况｜A3：鼓包与背景涟漪被分层处理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896112"/>
            <a:ext cx="11045952" cy="47548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1887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3A712"/>
                </a:solidFill>
                <a:latin typeface="Microsoft YaHei"/>
              </a:rPr>
              <a:t>鼓包成果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987552"/>
            <a:ext cx="9464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43B53"/>
                </a:solidFill>
                <a:latin typeface="Microsoft YaHei"/>
              </a:rPr>
              <a:t>宽背景单独标黄；弱密集波动保留为结构化背景残差，不自我确认。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7424927" cy="4498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17" y="1536192"/>
            <a:ext cx="6856533" cy="449884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156448" y="1627632"/>
            <a:ext cx="2907792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56448" y="1627632"/>
            <a:ext cx="73152" cy="1042415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719072"/>
            <a:ext cx="263347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3A712"/>
                </a:solidFill>
                <a:latin typeface="Microsoft YaHei"/>
              </a:rPr>
              <a:t>0.268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2185416"/>
            <a:ext cx="263347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基线最大起伏／量程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2852928"/>
            <a:ext cx="2907792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6448" y="2852928"/>
            <a:ext cx="73152" cy="1042415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2944368"/>
            <a:ext cx="263347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3A712"/>
                </a:solidFill>
                <a:latin typeface="Microsoft YaHei"/>
              </a:rPr>
              <a:t>6.52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3410712"/>
            <a:ext cx="263347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最长鼓包时长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4078224"/>
            <a:ext cx="1344168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56448" y="4078224"/>
            <a:ext cx="73152" cy="1042415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7" y="4169663"/>
            <a:ext cx="106984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9E5B"/>
                </a:solidFill>
                <a:latin typeface="Microsoft Ya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4636008"/>
            <a:ext cx="1069848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确认峰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10928" y="4078224"/>
            <a:ext cx="1344168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10928" y="4078224"/>
            <a:ext cx="73152" cy="1042415"/>
          </a:xfrm>
          <a:prstGeom prst="rect">
            <a:avLst/>
          </a:prstGeom>
          <a:solidFill>
            <a:srgbClr val="627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93807" y="4169663"/>
            <a:ext cx="106984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627D98"/>
                </a:solidFill>
                <a:latin typeface="Microsoft YaHei"/>
              </a:rPr>
              <a:t>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93807" y="4636008"/>
            <a:ext cx="1069848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背景残差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5404104"/>
            <a:ext cx="2898648" cy="52120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02A43"/>
                </a:solidFill>
                <a:latin typeface="Microsoft YaHei"/>
              </a:rPr>
              <a:t>首尾值接近并不代表无鼓包；A3 由中间最大起伏和持续区间被识别。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代表性工况｜F1：正峰与负峰使用有符号分支共同输出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896112"/>
            <a:ext cx="11045952" cy="47548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1887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C5CE7"/>
                </a:solidFill>
                <a:latin typeface="Microsoft YaHei"/>
              </a:rPr>
              <a:t>正负峰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987552"/>
            <a:ext cx="9464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43B53"/>
                </a:solidFill>
                <a:latin typeface="Microsoft YaHei"/>
              </a:rPr>
              <a:t>强负峰达到标准即可确认，不再因为“负号”自动进入 review。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768096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29" y="1554480"/>
            <a:ext cx="6898341" cy="45262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394192" y="1664208"/>
            <a:ext cx="283464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94192" y="1664208"/>
            <a:ext cx="73152" cy="1042415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1755648"/>
            <a:ext cx="256032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6C5CE7"/>
                </a:solidFill>
                <a:latin typeface="Microsoft YaHei"/>
              </a:rPr>
              <a:t>0.3267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2221992"/>
            <a:ext cx="256032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确认负峰峰顶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2468880"/>
            <a:ext cx="2560320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置信度 97.8%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94192" y="2926080"/>
            <a:ext cx="283464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94192" y="2926080"/>
            <a:ext cx="73152" cy="1042415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017520"/>
            <a:ext cx="256032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9E5B"/>
                </a:solidFill>
                <a:latin typeface="Microsoft YaHei"/>
              </a:rPr>
              <a:t>0.3983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3483864"/>
            <a:ext cx="256032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确认正峰峰顶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3730752"/>
            <a:ext cx="2560320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置信度 94.3%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94192" y="4206240"/>
            <a:ext cx="2834640" cy="1499616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86216" y="4407408"/>
            <a:ext cx="2468880" cy="1115568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40" b="1">
                <a:solidFill>
                  <a:srgbClr val="102A43"/>
                </a:solidFill>
                <a:latin typeface="Microsoft YaHei"/>
              </a:rPr>
              <a:t>校正值保留符号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40" b="0">
                <a:solidFill>
                  <a:srgbClr val="6C5CE7"/>
                </a:solidFill>
                <a:latin typeface="Microsoft YaHei"/>
              </a:rPr>
              <a:t>负峰 -29.59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40" b="0">
                <a:solidFill>
                  <a:srgbClr val="2E9E5B"/>
                </a:solidFill>
                <a:latin typeface="Microsoft YaHei"/>
              </a:rPr>
              <a:t>正峰 34.93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40" b="0">
                <a:solidFill>
                  <a:srgbClr val="243B53"/>
                </a:solidFill>
                <a:latin typeface="Microsoft YaHei"/>
              </a:rPr>
              <a:t>确认峰同步标注起止边界。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代表性工况｜H1：强电信号干扰保持伪峰状态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896112"/>
            <a:ext cx="11045952" cy="47548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1887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64550"/>
                </a:solidFill>
                <a:latin typeface="Microsoft YaHei"/>
              </a:rPr>
              <a:t>电干扰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987552"/>
            <a:ext cx="9464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43B53"/>
                </a:solidFill>
                <a:latin typeface="Microsoft YaHei"/>
              </a:rPr>
              <a:t>峰宽、采样支持、顶部能量、斜率跳变、对称性与脉冲上下文联合判断。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7424927" cy="44622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11718"/>
            <a:ext cx="7424927" cy="231121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156448" y="1609344"/>
            <a:ext cx="2944368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56448" y="1609344"/>
            <a:ext cx="73152" cy="1042415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700784"/>
            <a:ext cx="267004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D64550"/>
                </a:solidFill>
                <a:latin typeface="Microsoft YaHei"/>
              </a:rPr>
              <a:t>3.9333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2167128"/>
            <a:ext cx="2670048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min · 电尖峰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414016"/>
            <a:ext cx="2670048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artifact · 峰置信度 23.8%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2843784"/>
            <a:ext cx="2944368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6448" y="2843784"/>
            <a:ext cx="73152" cy="1042415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2935224"/>
            <a:ext cx="267004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D64550"/>
                </a:solidFill>
                <a:latin typeface="Microsoft YaHei"/>
              </a:rPr>
              <a:t>6.1400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3401568"/>
            <a:ext cx="2670048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min · 电尖峰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3648456"/>
            <a:ext cx="2670048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artifact · 峰置信度 5.1%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56448" y="4078224"/>
            <a:ext cx="2944368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56448" y="4078224"/>
            <a:ext cx="73152" cy="1042415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7" y="4169663"/>
            <a:ext cx="267004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D64550"/>
                </a:solidFill>
                <a:latin typeface="Microsoft YaHei"/>
              </a:rPr>
              <a:t>6.5333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4636008"/>
            <a:ext cx="2670048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min · 电尖峰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4882896"/>
            <a:ext cx="2670048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artifact · 峰置信度 25.0%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5431536"/>
            <a:ext cx="292608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1">
                <a:solidFill>
                  <a:srgbClr val="102A43"/>
                </a:solidFill>
                <a:latin typeface="Microsoft YaHei"/>
              </a:rPr>
              <a:t>保留时间命中不能覆盖强电形态证据；干扰仍进入可审计 CSV。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重点歧义｜H2 约 0.600 min：算法结论不等于人工真值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14400"/>
            <a:ext cx="11045952" cy="566928"/>
          </a:xfrm>
          <a:prstGeom prst="roundRect">
            <a:avLst/>
          </a:prstGeom>
          <a:solidFill>
            <a:srgbClr val="FDEDEF"/>
          </a:solidFill>
          <a:ln w="10160">
            <a:solidFill>
              <a:srgbClr val="F4B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60704"/>
            <a:ext cx="105613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D64550"/>
                </a:solidFill>
                <a:latin typeface="Microsoft YaHei"/>
              </a:rPr>
              <a:t>重要：当前输出是“电干扰候选／待复核”，不是已经确认的人工真值。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64208"/>
            <a:ext cx="5532120" cy="2889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17098"/>
            <a:ext cx="5532120" cy="138372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199632" y="1664208"/>
            <a:ext cx="5340096" cy="2889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342031"/>
            <a:ext cx="5340096" cy="153385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02920" y="4736592"/>
            <a:ext cx="11045952" cy="1389888"/>
          </a:xfrm>
          <a:prstGeom prst="roundRect">
            <a:avLst/>
          </a:prstGeom>
          <a:solidFill>
            <a:srgbClr val="FFF7DF"/>
          </a:solidFill>
          <a:ln w="10160">
            <a:solidFill>
              <a:srgbClr val="F0D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4919472"/>
            <a:ext cx="10533888" cy="1042415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10" b="1">
                <a:solidFill>
                  <a:srgbClr val="F3A712"/>
                </a:solidFill>
                <a:latin typeface="Microsoft YaHei"/>
              </a:rPr>
              <a:t>算法输出：电信号干扰候选 / 待复核 / 峰置信度 51.3%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10" b="0">
                <a:solidFill>
                  <a:srgbClr val="243B53"/>
                </a:solidFill>
                <a:latin typeface="Microsoft YaHei"/>
              </a:rPr>
              <a:t>“像峰”证据：FWHM 0.0917 min、对称度 0.982、峰体分 0.869。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10" b="0">
                <a:solidFill>
                  <a:srgbClr val="243B53"/>
                </a:solidFill>
                <a:latin typeface="Microsoft YaHei"/>
              </a:rPr>
              <a:t>“异常”证据：峰顶异常=True，反事实峰体门=False；电干扰分仅 0.048。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10" b="1">
                <a:solidFill>
                  <a:srgbClr val="D64550"/>
                </a:solidFill>
                <a:latin typeface="Microsoft YaHei"/>
              </a:rPr>
              <a:t>正确处置：保留 review，建立人工标签后再校准；不能仅凭文件名或算法类别宣称它一定是干扰。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噪声与结构化背景：减少“把背景涟漪数成峰”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5724144" cy="4553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6336"/>
            <a:ext cx="5724144" cy="355614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55080" y="987552"/>
            <a:ext cx="5166360" cy="3675887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50127"/>
            <a:ext cx="5166360" cy="315073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37960" y="4846320"/>
            <a:ext cx="4809744" cy="115214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5029200"/>
            <a:ext cx="4407408" cy="82296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130" b="1">
                <a:solidFill>
                  <a:srgbClr val="627D98"/>
                </a:solidFill>
                <a:latin typeface="Microsoft YaHei"/>
              </a:rPr>
              <a:t>结构化背景残差：155 个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130" b="0">
                <a:solidFill>
                  <a:srgbClr val="243B53"/>
                </a:solidFill>
                <a:latin typeface="Microsoft YaHei"/>
              </a:rPr>
              <a:t>它们显示为灰色审计点，置信度受限，不会在鼓包区内自行升级为确认峰。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130" b="1">
                <a:solidFill>
                  <a:srgbClr val="102A43"/>
                </a:solidFill>
                <a:latin typeface="Microsoft YaHei"/>
              </a:rPr>
              <a:t>高噪声也不是一票否决：强而稳定的模板峰仍可确认。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原始分段放大图：验证弱峰与局部波动，不改变任何数据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78408"/>
            <a:ext cx="7516368" cy="5285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36" y="978408"/>
            <a:ext cx="7114735" cy="528523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47888" y="978408"/>
            <a:ext cx="3246120" cy="5285232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C9D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76488" y="1243584"/>
            <a:ext cx="2761488" cy="466344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2F80ED"/>
                </a:solidFill>
                <a:latin typeface="Microsoft YaHei"/>
              </a:rPr>
              <a:t>用途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0">
                <a:solidFill>
                  <a:srgbClr val="243B53"/>
                </a:solidFill>
                <a:latin typeface="Microsoft YaHei"/>
              </a:rPr>
              <a:t>观察全量程图中被强峰压扁的弱信号、噪声、台阶和局部漂移。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2F80ED"/>
                </a:solidFill>
                <a:latin typeface="Microsoft YaHei"/>
              </a:rPr>
              <a:t>数据原则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0">
                <a:solidFill>
                  <a:srgbClr val="243B53"/>
                </a:solidFill>
                <a:latin typeface="Microsoft YaHei"/>
              </a:rPr>
              <a:t>只缩放显示坐标轴；仍是原始 CSV 样本，不平滑、不插值、不扣基线。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F3A712"/>
                </a:solidFill>
                <a:latin typeface="Microsoft YaHei"/>
              </a:rPr>
              <a:t>注意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0">
                <a:solidFill>
                  <a:srgbClr val="243B53"/>
                </a:solidFill>
                <a:latin typeface="Microsoft YaHei"/>
              </a:rPr>
              <a:t>各分段纵轴独立，不能直接比较屏幕高度；定量应回到 CSV。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2F80ED"/>
                </a:solidFill>
                <a:latin typeface="Microsoft YaHei"/>
              </a:rPr>
              <a:t>自动化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0">
                <a:solidFill>
                  <a:srgbClr val="243B53"/>
                </a:solidFill>
                <a:latin typeface="Microsoft YaHei"/>
              </a:rPr>
              <a:t>正式输出中已检测到 41 张 raw_zoom_plots。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最终检测结果横向对比｜五类工况的输出构成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7086600" cy="4983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804986"/>
            <a:ext cx="7086600" cy="338518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18120" y="1005840"/>
            <a:ext cx="3685032" cy="498348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C9D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261872"/>
            <a:ext cx="3218688" cy="4443984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150" b="1">
                <a:solidFill>
                  <a:srgbClr val="2F80ED"/>
                </a:solidFill>
                <a:latin typeface="Microsoft YaHei"/>
              </a:rPr>
              <a:t>如何解读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150" b="0">
                <a:solidFill>
                  <a:srgbClr val="243B53"/>
                </a:solidFill>
                <a:latin typeface="Microsoft YaHei"/>
              </a:rPr>
              <a:t>参考标气：30/39 个候选被确认，未输出 artifact。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150" b="0">
                <a:solidFill>
                  <a:srgbClr val="243B53"/>
                </a:solidFill>
                <a:latin typeface="Microsoft YaHei"/>
              </a:rPr>
              <a:t>鼓包：108/176 进入复核；宽背景被保留而非强行算峰。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150" b="0">
                <a:solidFill>
                  <a:srgbClr val="243B53"/>
                </a:solidFill>
                <a:latin typeface="Microsoft YaHei"/>
              </a:rPr>
              <a:t>噪声：候选最多（n=292），review 占主导，体现保守策略。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150" b="0">
                <a:solidFill>
                  <a:srgbClr val="243B53"/>
                </a:solidFill>
                <a:latin typeface="Microsoft YaHei"/>
              </a:rPr>
              <a:t>负峰：确认 29 个；负号本身不再触发降级。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150" b="0">
                <a:solidFill>
                  <a:srgbClr val="243B53"/>
                </a:solidFill>
                <a:latin typeface="Microsoft YaHei"/>
              </a:rPr>
              <a:t>电干扰：artifact 10 个，占比为五类中最高。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150" b="1">
                <a:solidFill>
                  <a:srgbClr val="D64550"/>
                </a:solidFill>
                <a:latin typeface="Microsoft YaHei"/>
              </a:rPr>
              <a:t>重要边界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150" b="1">
                <a:solidFill>
                  <a:srgbClr val="D64550"/>
                </a:solidFill>
                <a:latin typeface="Microsoft YaHei"/>
              </a:rPr>
              <a:t>这是算法最终输出构成，不是准确率、召回率或人工真值对比；建立逐峰标签后才能计算性能指标。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最终检测对比｜相似的尖顶，为什么 A7 是峰而 H1 是干扰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658368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27D98"/>
                </a:solidFill>
                <a:latin typeface="Microsoft YaHei"/>
              </a:rPr>
              <a:t>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914400"/>
            <a:ext cx="400507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2A43"/>
                </a:solidFill>
                <a:latin typeface="Microsoft YaHei"/>
              </a:rPr>
              <a:t>原始数据局部放大（未预处理）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0952" y="914400"/>
            <a:ext cx="2743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E8F87"/>
                </a:solidFill>
                <a:latin typeface="Microsoft YaHe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2704" y="914400"/>
            <a:ext cx="400507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2A43"/>
                </a:solidFill>
                <a:latin typeface="Microsoft YaHei"/>
              </a:rPr>
              <a:t>最终检测与分类标注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65792" y="914400"/>
            <a:ext cx="173736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27D98"/>
                </a:solidFill>
                <a:latin typeface="Microsoft YaHei"/>
              </a:rPr>
              <a:t>对比结论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188720"/>
            <a:ext cx="658368" cy="2267712"/>
          </a:xfrm>
          <a:prstGeom prst="roundRect">
            <a:avLst/>
          </a:prstGeom>
          <a:solidFill>
            <a:srgbClr val="2E9E5B"/>
          </a:solidFill>
          <a:ln w="10160">
            <a:solidFill>
              <a:srgbClr val="2E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865376"/>
            <a:ext cx="603504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A7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" y="1188720"/>
            <a:ext cx="4005072" cy="2267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1899985"/>
            <a:ext cx="4005072" cy="8451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0952" y="2103120"/>
            <a:ext cx="2743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E8F87"/>
                </a:solidFill>
                <a:latin typeface="Microsoft YaHe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32704" y="1188720"/>
            <a:ext cx="4005072" cy="2267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284" y="1188720"/>
            <a:ext cx="2745911" cy="2267711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765792" y="1188720"/>
            <a:ext cx="1737360" cy="226771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2E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02952" y="1371600"/>
            <a:ext cx="1463040" cy="1938528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1">
                <a:solidFill>
                  <a:srgbClr val="2E9E5B"/>
                </a:solidFill>
                <a:latin typeface="Microsoft YaHei"/>
              </a:rPr>
              <a:t>连续峰体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0.4333 / 0.5650 min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置信度 82.5% / 90.0%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去尖后峰体仍在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1">
                <a:solidFill>
                  <a:srgbClr val="2E9E5B"/>
                </a:solidFill>
                <a:latin typeface="Microsoft YaHei"/>
              </a:rPr>
              <a:t>→ 均确认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75887"/>
            <a:ext cx="658368" cy="2267712"/>
          </a:xfrm>
          <a:prstGeom prst="roundRect">
            <a:avLst/>
          </a:prstGeom>
          <a:solidFill>
            <a:srgbClr val="D64550"/>
          </a:solidFill>
          <a:ln w="10160">
            <a:solidFill>
              <a:srgbClr val="D6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352544"/>
            <a:ext cx="603504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H1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98448" y="3675887"/>
            <a:ext cx="4005072" cy="2267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4167326"/>
            <a:ext cx="4005072" cy="128483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30952" y="4590288"/>
            <a:ext cx="2743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E8F87"/>
                </a:solidFill>
                <a:latin typeface="Microsoft YaHe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2704" y="3675887"/>
            <a:ext cx="4005072" cy="2267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1406" y="3675887"/>
            <a:ext cx="3987667" cy="2267712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765792" y="3675887"/>
            <a:ext cx="1737360" cy="226771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6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02952" y="3858768"/>
            <a:ext cx="1463040" cy="1938528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1">
                <a:solidFill>
                  <a:srgbClr val="D64550"/>
                </a:solidFill>
                <a:latin typeface="Microsoft YaHei"/>
              </a:rPr>
              <a:t>少点脉冲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斜率突变且顶部能量集中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artifact 共 8 个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保留时间不能覆盖强异常证据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1">
                <a:solidFill>
                  <a:srgbClr val="D64550"/>
                </a:solidFill>
                <a:latin typeface="Microsoft YaHei"/>
              </a:rPr>
              <a:t>→ 排除/复核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053328"/>
            <a:ext cx="1071676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2A43"/>
                </a:solidFill>
                <a:latin typeface="Microsoft YaHei"/>
              </a:rPr>
              <a:t>对比核心：不能只看“尖不尖”；应检查完整峰体、宽度、连续性、对称性、斜率及去尖后的峰体保留。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最终检测对比｜鼓包背景与正负峰从原始数据到最终标注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658368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27D98"/>
                </a:solidFill>
                <a:latin typeface="Microsoft YaHei"/>
              </a:rPr>
              <a:t>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914400"/>
            <a:ext cx="400507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2A43"/>
                </a:solidFill>
                <a:latin typeface="Microsoft YaHei"/>
              </a:rPr>
              <a:t>原始数据局部放大（未预处理）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0952" y="914400"/>
            <a:ext cx="2743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E8F87"/>
                </a:solidFill>
                <a:latin typeface="Microsoft YaHe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2704" y="914400"/>
            <a:ext cx="400507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2A43"/>
                </a:solidFill>
                <a:latin typeface="Microsoft YaHei"/>
              </a:rPr>
              <a:t>最终检测与分类标注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65792" y="914400"/>
            <a:ext cx="173736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27D98"/>
                </a:solidFill>
                <a:latin typeface="Microsoft YaHei"/>
              </a:rPr>
              <a:t>对比结论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188720"/>
            <a:ext cx="658368" cy="2267712"/>
          </a:xfrm>
          <a:prstGeom prst="roundRect">
            <a:avLst/>
          </a:prstGeom>
          <a:solidFill>
            <a:srgbClr val="F3A712"/>
          </a:solidFill>
          <a:ln w="10160">
            <a:solidFill>
              <a:srgbClr val="F3A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865376"/>
            <a:ext cx="603504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A3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" y="1188720"/>
            <a:ext cx="4005072" cy="2267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1633984"/>
            <a:ext cx="4005072" cy="137718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0952" y="2103120"/>
            <a:ext cx="2743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E8F87"/>
                </a:solidFill>
                <a:latin typeface="Microsoft YaHe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32704" y="1188720"/>
            <a:ext cx="4005072" cy="2267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221" y="1188720"/>
            <a:ext cx="3626036" cy="226771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765792" y="1188720"/>
            <a:ext cx="1737360" cy="226771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3A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02952" y="1371600"/>
            <a:ext cx="1463040" cy="1938528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1">
                <a:solidFill>
                  <a:srgbClr val="F3A712"/>
                </a:solidFill>
                <a:latin typeface="Microsoft YaHei"/>
              </a:rPr>
              <a:t>明显鼓包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最大起伏 26.8%量程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持续 6.52 min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确认 2 / 背景残差 27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1">
                <a:solidFill>
                  <a:srgbClr val="F3A712"/>
                </a:solidFill>
                <a:latin typeface="Microsoft YaHei"/>
              </a:rPr>
              <a:t>→ 背景不冒充峰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75887"/>
            <a:ext cx="658368" cy="2267712"/>
          </a:xfrm>
          <a:prstGeom prst="roundRect">
            <a:avLst/>
          </a:prstGeom>
          <a:solidFill>
            <a:srgbClr val="6C5CE7"/>
          </a:solidFill>
          <a:ln w="1016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352544"/>
            <a:ext cx="603504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F1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98448" y="3675887"/>
            <a:ext cx="4005072" cy="2267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4371093"/>
            <a:ext cx="4005072" cy="87730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30952" y="4590288"/>
            <a:ext cx="2743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E8F87"/>
                </a:solidFill>
                <a:latin typeface="Microsoft YaHe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2704" y="3675887"/>
            <a:ext cx="4005072" cy="2267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284" y="3675887"/>
            <a:ext cx="2745911" cy="2267711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765792" y="3675887"/>
            <a:ext cx="1737360" cy="226771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02952" y="3858768"/>
            <a:ext cx="1463040" cy="1938528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1">
                <a:solidFill>
                  <a:srgbClr val="6C5CE7"/>
                </a:solidFill>
                <a:latin typeface="Microsoft YaHei"/>
              </a:rPr>
              <a:t>有符号双分支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负峰 0.3267 min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正峰 0.3983 min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置信度 97.8% / 94.3%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1">
                <a:solidFill>
                  <a:srgbClr val="6C5CE7"/>
                </a:solidFill>
                <a:latin typeface="Microsoft YaHei"/>
              </a:rPr>
              <a:t>→ 正负均确认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053328"/>
            <a:ext cx="1071676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80" b="1">
                <a:solidFill>
                  <a:srgbClr val="102A43"/>
                </a:solidFill>
                <a:latin typeface="Microsoft YaHei"/>
              </a:rPr>
              <a:t>左列始终为原始 CSV 样本的显示轴放大；右列才是经过基线、噪声、候选检测和分类后的最终结果。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当前能力边界与验证责任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394960" cy="4965192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C8E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298448"/>
            <a:ext cx="201168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E9E5B"/>
                </a:solidFill>
                <a:latin typeface="Microsoft YaHei"/>
              </a:rPr>
              <a:t>已经具备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10512"/>
            <a:ext cx="4800600" cy="3621024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400" b="0">
                <a:solidFill>
                  <a:srgbClr val="243B53"/>
                </a:solidFill>
                <a:latin typeface="Microsoft YaHei"/>
              </a:rPr>
              <a:t>✓ 动态噪声、双基线与有符号正负分支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400" b="0">
                <a:solidFill>
                  <a:srgbClr val="243B53"/>
                </a:solidFill>
                <a:latin typeface="Microsoft YaHei"/>
              </a:rPr>
              <a:t>✓ 普通峰、窄峰、宽峰、峰上峰、负峰候选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400" b="0">
                <a:solidFill>
                  <a:srgbClr val="243B53"/>
                </a:solidFill>
                <a:latin typeface="Microsoft YaHei"/>
              </a:rPr>
              <a:t>✓ 鼓包区域与结构化背景残差分离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400" b="0">
                <a:solidFill>
                  <a:srgbClr val="243B53"/>
                </a:solidFill>
                <a:latin typeface="Microsoft YaHei"/>
              </a:rPr>
              <a:t>✓ 多参数电干扰与“峰体 + 峰顶尖点”区分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400" b="0">
                <a:solidFill>
                  <a:srgbClr val="243B53"/>
                </a:solidFill>
                <a:latin typeface="Microsoft YaHei"/>
              </a:rPr>
              <a:t>✓ 峰顶、边界、置信度、证据分项和原始值输出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400" b="0">
                <a:solidFill>
                  <a:srgbClr val="243B53"/>
                </a:solidFill>
                <a:latin typeface="Microsoft YaHei"/>
              </a:rPr>
              <a:t>✓ 分析图、原始分段图和批量 CSV 交付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051560"/>
            <a:ext cx="5340096" cy="4965192"/>
          </a:xfrm>
          <a:prstGeom prst="roundRect">
            <a:avLst/>
          </a:prstGeom>
          <a:solidFill>
            <a:srgbClr val="FDEDEF"/>
          </a:solidFill>
          <a:ln w="10160">
            <a:solidFill>
              <a:srgbClr val="F4B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298448"/>
            <a:ext cx="256032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64550"/>
                </a:solidFill>
                <a:latin typeface="Microsoft YaHei"/>
              </a:rPr>
              <a:t>仍需真值闭环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10512"/>
            <a:ext cx="4736592" cy="3621024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! T1–T6 尚未绑定不同机型／通道的化学组分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! 普通重叠峰的解卷积与面积分配尚未完成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! 正负重叠后的定量面积尚未完成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! 鼓包与基线报警仍需人工标签验证召回率／误报率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! 电干扰排除率、峰型准确率需要逐峰人工真值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70" b="1">
                <a:solidFill>
                  <a:srgbClr val="D64550"/>
                </a:solidFill>
                <a:latin typeface="Microsoft YaHei"/>
              </a:rPr>
              <a:t>! 置信度是概率样评分，不是统计意义上的“真实概率”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交付物与下一步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24128"/>
            <a:ext cx="6611112" cy="5065776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280160"/>
            <a:ext cx="22860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02A43"/>
                </a:solidFill>
                <a:latin typeface="Microsoft YaHei"/>
              </a:rPr>
              <a:t>当前交付包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10512"/>
            <a:ext cx="5989320" cy="365760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源代码与配置：src/、configs/、run_detector.py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全量结果：all_detected_features.csv、confirmed_peaks.csv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复核清单：review_required.csv、interference_candidates.csv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背景审计：structured_background_residuals.csv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图像：plots/ 与 raw_zoom_plots/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说明：README、算法说明、技术总结与本演示稿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70" b="1">
                <a:solidFill>
                  <a:srgbClr val="0E8F87"/>
                </a:solidFill>
                <a:latin typeface="Microsoft YaHei"/>
              </a:rPr>
              <a:t>重生成：python scripts/generate_deliverables.py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024128"/>
            <a:ext cx="4133087" cy="5065776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C9D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280160"/>
            <a:ext cx="21945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80ED"/>
                </a:solidFill>
                <a:latin typeface="Microsoft YaHei"/>
              </a:rPr>
              <a:t>建议下一步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1810512"/>
            <a:ext cx="3547872" cy="370332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1">
                <a:solidFill>
                  <a:srgbClr val="2F80ED"/>
                </a:solidFill>
                <a:latin typeface="Microsoft YaHei"/>
              </a:rPr>
              <a:t>1  建立逐峰人工真值表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0">
                <a:solidFill>
                  <a:srgbClr val="243B53"/>
                </a:solidFill>
                <a:latin typeface="Microsoft YaHei"/>
              </a:rPr>
              <a:t>峰位、峰型、边界、是否干扰。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1">
                <a:solidFill>
                  <a:srgbClr val="2F80ED"/>
                </a:solidFill>
                <a:latin typeface="Microsoft YaHei"/>
              </a:rPr>
              <a:t>2  按机型／通道校准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0">
                <a:solidFill>
                  <a:srgbClr val="243B53"/>
                </a:solidFill>
                <a:latin typeface="Microsoft YaHei"/>
              </a:rPr>
              <a:t>绑定组分名称并验证保留时间漂移。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1">
                <a:solidFill>
                  <a:srgbClr val="2F80ED"/>
                </a:solidFill>
                <a:latin typeface="Microsoft YaHei"/>
              </a:rPr>
              <a:t>3  建立量化指标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0">
                <a:solidFill>
                  <a:srgbClr val="243B53"/>
                </a:solidFill>
                <a:latin typeface="Microsoft YaHei"/>
              </a:rPr>
              <a:t>峰召回率、伪峰排除率、边界误差、面积误差。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1">
                <a:solidFill>
                  <a:srgbClr val="2F80ED"/>
                </a:solidFill>
                <a:latin typeface="Microsoft YaHei"/>
              </a:rPr>
              <a:t>4  再进入解卷积与面积定量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1">
                <a:solidFill>
                  <a:srgbClr val="D64550"/>
                </a:solidFill>
                <a:latin typeface="Microsoft YaHei"/>
              </a:rPr>
              <a:t>先完成真值闭环，再扩大自动确认范围。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