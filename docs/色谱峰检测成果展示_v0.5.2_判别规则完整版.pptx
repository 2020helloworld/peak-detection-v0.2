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-914400"/>
            <a:ext cx="4754880" cy="4754880"/>
          </a:xfrm>
          <a:prstGeom prst="ellipse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1170432"/>
            <a:ext cx="804672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色谱峰检测成果展示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975104"/>
            <a:ext cx="8229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9EAF2"/>
                </a:solidFill>
                <a:latin typeface="Microsoft YaHei"/>
              </a:rPr>
              <a:t>从原始谱图到峰位、峰型、边界与置信度输出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61488"/>
            <a:ext cx="1143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v0.5.2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788920"/>
            <a:ext cx="71323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7D9E8"/>
                </a:solidFill>
                <a:latin typeface="Microsoft YaHei"/>
              </a:rPr>
              <a:t>41 条独立曲线 · 6 个参考模板槽 · 可审计 CSV + 图像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3895344"/>
            <a:ext cx="6492240" cy="1207008"/>
          </a:xfrm>
          <a:prstGeom prst="roundRect">
            <a:avLst/>
          </a:prstGeom>
          <a:solidFill>
            <a:srgbClr val="243B53"/>
          </a:solidFill>
          <a:ln w="10160">
            <a:solidFill>
              <a:srgbClr val="3E5C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169663"/>
            <a:ext cx="6035040" cy="6858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1">
                <a:solidFill>
                  <a:srgbClr val="FFFFFF"/>
                </a:solidFill>
                <a:latin typeface="Microsoft YaHei"/>
              </a:rPr>
              <a:t>聚焦已实现能力、代表性修正、可验证成果与边界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50" b="0">
                <a:solidFill>
                  <a:srgbClr val="B7D9E8"/>
                </a:solidFill>
                <a:latin typeface="Microsoft YaHei"/>
              </a:rPr>
              <a:t>所有数字和案例均直接读取当前 v0.5.2 正式输出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63056"/>
            <a:ext cx="18288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FB8CC"/>
                </a:solidFill>
                <a:latin typeface="Microsoft YaHei"/>
              </a:rPr>
              <a:t>2026-07-18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126480"/>
            <a:ext cx="5029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一页看懂当前成果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4709160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23" y="978408"/>
            <a:ext cx="4672952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046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04688" y="10972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87568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已确认峰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568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峰置信度 ≥ 75%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62088" y="1097280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380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待复核事件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保留完整证据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19488" y="1097280"/>
            <a:ext cx="1874519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19488" y="1097280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7" y="1188720"/>
            <a:ext cx="1600199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7" y="1655064"/>
            <a:ext cx="1600199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干扰／伪峰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7" y="1901952"/>
            <a:ext cx="1600199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电形态或低可信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4688" y="2432304"/>
            <a:ext cx="5989320" cy="294436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2706624"/>
            <a:ext cx="5486400" cy="23317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保留未经处理的原始谱线，便于逐图对照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峰顶时间、校正值、起止边界与综合置信度同步输出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正峰、负峰、峰顶尖点、电干扰、鼓包与背景残差可区分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2E9E5B"/>
                </a:solidFill>
                <a:latin typeface="Microsoft YaHei"/>
              </a:rPr>
              <a:t>✓ review 不隐藏、不强行确认，可直接形成复核清单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50" b="1">
                <a:solidFill>
                  <a:srgbClr val="102A43"/>
                </a:solidFill>
                <a:latin typeface="Microsoft YaHei"/>
              </a:rPr>
              <a:t>已形成可批量运行、可解释、可回归验证的工程初版。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项目目标与数据覆盖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897880" cy="4480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1586"/>
            <a:ext cx="5897880" cy="33924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56832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56832" y="1078992"/>
            <a:ext cx="73152" cy="1042415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F80ED"/>
                </a:solidFill>
                <a:latin typeface="Microsoft YaHei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9712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独立曲线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0456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0456" y="1078992"/>
            <a:ext cx="73152" cy="1042415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0E8F87"/>
                </a:solidFill>
                <a:latin typeface="Microsoft YaHe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参考标气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078992"/>
            <a:ext cx="141732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1078992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59" y="1170432"/>
            <a:ext cx="114300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9" y="1636776"/>
            <a:ext cx="114300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模板槽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56832" y="2450592"/>
            <a:ext cx="4572000" cy="2999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2688336"/>
            <a:ext cx="4069080" cy="24231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目标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定位每个候选事件，判断峰型，并给出可核验的置信度与边界。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覆盖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参考标气、鼓包、噪声、负峰、电信号干扰五类工况。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2F80ED"/>
                </a:solidFill>
                <a:latin typeface="Microsoft YaHei"/>
              </a:rPr>
              <a:t>评估原则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算法输出是待验证结论；没有人工标签时不宣称等同真值。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检测结果图完整图例｜曲线、区域、状态与形态符号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3685032" cy="534924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170432"/>
            <a:ext cx="201168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F80ED"/>
                </a:solidFill>
                <a:latin typeface="Microsoft YaHei"/>
              </a:rPr>
              <a:t>三层曲线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91056"/>
            <a:ext cx="3246120" cy="444398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1">
                <a:solidFill>
                  <a:srgbClr val="102A43"/>
                </a:solidFill>
                <a:latin typeface="Microsoft YaHei"/>
              </a:rPr>
              <a:t>第一层｜raw signal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555555"/>
                </a:solidFill>
                <a:latin typeface="Microsoft YaHei"/>
              </a:rPr>
              <a:t>━━ 深灰 raw samples：直接连接原始 CSV 采样，不平滑、不扣基线。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1">
                <a:solidFill>
                  <a:srgbClr val="102A43"/>
                </a:solidFill>
                <a:latin typeface="Microsoft YaHei"/>
              </a:rPr>
              <a:t>第二层｜signal / baseline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8C8C8C"/>
                </a:solidFill>
                <a:latin typeface="Microsoft YaHei"/>
              </a:rPr>
              <a:t>━━ 浅灰 raw reference：原始谱线的位置参照。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D64550"/>
                </a:solidFill>
                <a:latin typeface="Microsoft YaHei"/>
              </a:rPr>
              <a:t>━━ 红色 robust main baseline：正峰检测使用的稳健主基线。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6C5CE7"/>
                </a:solidFill>
                <a:latin typeface="Microsoft YaHei"/>
              </a:rPr>
              <a:t>━━ 紫色 rolling-ball local background：鼓包和局部背景模型。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1">
                <a:solidFill>
                  <a:srgbClr val="102A43"/>
                </a:solidFill>
                <a:latin typeface="Microsoft YaHei"/>
              </a:rPr>
              <a:t>第三层｜corrected signal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2F80ED"/>
                </a:solidFill>
                <a:latin typeface="Microsoft YaHei"/>
              </a:rPr>
              <a:t>━━ 蓝色 preprocessed positive：主基线扣除后的正峰检测分支。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627D98"/>
                </a:solidFill>
                <a:latin typeface="Microsoft YaHei"/>
              </a:rPr>
              <a:t>━━ 灰色 signed branch：保留正负号，供负峰搜索与确认。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40" b="0">
                <a:solidFill>
                  <a:srgbClr val="243B53"/>
                </a:solidFill>
                <a:latin typeface="Microsoft YaHei"/>
              </a:rPr>
              <a:t>━━ 黑灰水平线：基线校正后的 0 参考线。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960120"/>
            <a:ext cx="3364992" cy="5349240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170432"/>
            <a:ext cx="26517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3A712"/>
                </a:solidFill>
                <a:latin typeface="Microsoft YaHei"/>
              </a:rPr>
              <a:t>区域、边界与标签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591056"/>
            <a:ext cx="2907792" cy="4462272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F3A712"/>
                </a:solidFill>
                <a:latin typeface="Microsoft YaHei"/>
              </a:rPr>
              <a:t>▧ 淡黄色区域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宽背景／鼓包诊断区；其中仍允许存在证据充分的真实峰。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2E9E5B"/>
                </a:solidFill>
                <a:latin typeface="Microsoft YaHei"/>
              </a:rPr>
              <a:t>▥ 浅绿色竖向矩形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T1–T6 保留时间容差窗；只是模板位置，不是峰或峰边界。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0E8F87"/>
                </a:solidFill>
                <a:latin typeface="Microsoft YaHei"/>
              </a:rPr>
              <a:t>▷ 青绿空心向右三角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仅用于 confirmed 峰，表示算法起点。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0E8F87"/>
                </a:solidFill>
                <a:latin typeface="Microsoft YaHei"/>
              </a:rPr>
              <a:t>◁ 青绿空心向左三角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仅用于 confirmed 峰，表示算法终点；两个三角都朝向峰区间内部。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标签与细引导线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显示峰型、置信度、峰顶时间／校正值及确认峰起止时间；引导线只连接文字与对应峰顶。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D64550"/>
                </a:solidFill>
                <a:latin typeface="Microsoft YaHei"/>
              </a:rPr>
              <a:t>边界为自动近基线边界，不等同于人工确认的最终积分边界。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08975" y="960120"/>
            <a:ext cx="3694176" cy="5349240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1170432"/>
            <a:ext cx="265176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9E5B"/>
                </a:solidFill>
                <a:latin typeface="Microsoft YaHei"/>
              </a:rPr>
              <a:t>状态与形态叠加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1591056"/>
            <a:ext cx="3236976" cy="444398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2E9E5B"/>
                </a:solidFill>
                <a:latin typeface="Microsoft YaHei"/>
              </a:rPr>
              <a:t>● 绿色圆点 confirmed：置信度达到确认线。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F3A712"/>
                </a:solidFill>
                <a:latin typeface="Microsoft YaHei"/>
              </a:rPr>
              <a:t>▲ 橙色三角 review：有峰证据，但需人工复核。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D64550"/>
                </a:solidFill>
                <a:latin typeface="Microsoft YaHei"/>
              </a:rPr>
              <a:t>× 红色叉号 artifact / interference：更像电干扰或非色谱伪峰。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627D98"/>
                </a:solidFill>
                <a:latin typeface="Microsoft YaHei"/>
              </a:rPr>
              <a:t>◆ 灰色菱形 likely noise：低置信度峰／噪声候选。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777777"/>
                </a:solidFill>
                <a:latin typeface="Microsoft YaHei"/>
              </a:rPr>
              <a:t>· 灰色小点 structured background residual：结构化背景残差，保留审计但不确认。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6C5CE7"/>
                </a:solidFill>
                <a:latin typeface="Microsoft YaHei"/>
              </a:rPr>
              <a:t>□ 紫色空心方框 gentle broad peak candidate：平缓宽峰形态叠加。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6C5CE7"/>
                </a:solidFill>
                <a:latin typeface="Microsoft YaHei"/>
              </a:rPr>
              <a:t>P 紫色空心加号形 chromatographic peak with apex spike：峰体真实但峰顶带尖点。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30" b="1">
                <a:solidFill>
                  <a:srgbClr val="102A43"/>
                </a:solidFill>
                <a:latin typeface="Microsoft YaHei"/>
              </a:rPr>
              <a:t>状态符号回答“可靠性等级”；紫色叠加符号回答“峰的形态”。同一事件可以同时出现两类符号。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参考模板：T1–T6 是相对位置槽，不是化学名称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6601968" cy="42245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636503"/>
            <a:ext cx="6601968" cy="305464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051560"/>
            <a:ext cx="4187952" cy="42245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280160"/>
            <a:ext cx="3749039" cy="37947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2E9E5B"/>
                </a:solidFill>
                <a:latin typeface="Microsoft YaHei"/>
              </a:rPr>
              <a:t>模板来自 5 份参考标气的稳定峰族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T1  0.365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T2  0.485 ± 0.045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T3  1.817 ± 0.091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T4  2.452 ± 0.123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T5  3.004 ± 0.150 min · 支持 4/5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T6  4.248 ± 0.212 min · 支持 5/5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1">
                <a:solidFill>
                  <a:srgbClr val="D64550"/>
                </a:solidFill>
                <a:latin typeface="Microsoft YaHei"/>
              </a:rPr>
              <a:t>跨机型含义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180" b="0">
                <a:solidFill>
                  <a:srgbClr val="243B53"/>
                </a:solidFill>
                <a:latin typeface="Microsoft YaHei"/>
              </a:rPr>
              <a:t>当前仅表示相似保留时间族；补充通道／组分映射后才能命名 H₂、CH₄ 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50408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模板提供匹配证据；形态异常仍可判为电干扰，保留时间不能“救回”强毛刺。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置信度判别标准｜分数用途、状态阈值与动态修正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000232" cy="53035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060704"/>
            <a:ext cx="10588752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02A43"/>
                </a:solidFill>
                <a:latin typeface="Microsoft YaHei"/>
              </a:rPr>
              <a:t>peak_confidence = 各项 0～1 证据分 × 固定权重求和，再乘工况修正系数，最后截断到 0～1。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520440" cy="455371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228600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80ED"/>
                </a:solidFill>
                <a:latin typeface="Microsoft YaHei"/>
              </a:rPr>
              <a:t>峰存在置信度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3063240" cy="361188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1">
                <a:solidFill>
                  <a:srgbClr val="102A43"/>
                </a:solidFill>
                <a:latin typeface="Microsoft YaHei"/>
              </a:rPr>
              <a:t>peak_confidence 回答：该事件像不像真实色谱峰。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0">
                <a:solidFill>
                  <a:srgbClr val="243B53"/>
                </a:solidFill>
                <a:latin typeface="Microsoft YaHei"/>
              </a:rPr>
              <a:t>SNR：约 3～30 采用对数映射。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0">
                <a:solidFill>
                  <a:srgbClr val="243B53"/>
                </a:solidFill>
                <a:latin typeface="Microsoft YaHei"/>
              </a:rPr>
              <a:t>相对突出度：0.0008～0.03 采用对数映射；高噪声另设 0.01 保护门。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0">
                <a:solidFill>
                  <a:srgbClr val="243B53"/>
                </a:solidFill>
                <a:latin typeface="Microsoft YaHei"/>
              </a:rPr>
              <a:t>峰宽：与全部参考模板宽度比较，取最佳相似度。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0">
                <a:solidFill>
                  <a:srgbClr val="243B53"/>
                </a:solidFill>
                <a:latin typeface="Microsoft YaHei"/>
              </a:rPr>
              <a:t>对称性：由 0.20～0.90 映射到 0～1。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0">
                <a:solidFill>
                  <a:srgbClr val="243B53"/>
                </a:solidFill>
                <a:latin typeface="Microsoft YaHei"/>
              </a:rPr>
              <a:t>非平顶性：由 top_width_ratio 映射，顶部越异常越低。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1">
                <a:solidFill>
                  <a:srgbClr val="6C5CE7"/>
                </a:solidFill>
                <a:latin typeface="Microsoft YaHei"/>
              </a:rPr>
              <a:t>负峰另外使用带符号下探深度和原始双侧谷深。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90" b="1">
                <a:solidFill>
                  <a:srgbClr val="D64550"/>
                </a:solidFill>
                <a:latin typeface="Microsoft YaHei"/>
              </a:rPr>
              <a:t>它是可解释的概率样评分，尚不是经人工真值校准的统计概率。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645920"/>
            <a:ext cx="2926080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74519"/>
            <a:ext cx="182880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2A43"/>
                </a:solidFill>
                <a:latin typeface="Microsoft YaHei"/>
              </a:rPr>
              <a:t>状态阈值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2331720"/>
            <a:ext cx="2395728" cy="84124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432304"/>
            <a:ext cx="10058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E9E5B"/>
                </a:solidFill>
                <a:latin typeface="Microsoft YaHei"/>
              </a:rPr>
              <a:t>≥ 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478024"/>
            <a:ext cx="1042415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E9E5B"/>
                </a:solidFill>
                <a:latin typeface="Microsoft YaHei"/>
              </a:rPr>
              <a:t>confirmed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9704" y="3364992"/>
            <a:ext cx="2395728" cy="1078992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3474720"/>
            <a:ext cx="10058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64550"/>
                </a:solidFill>
                <a:latin typeface="Microsoft YaHei"/>
              </a:rPr>
              <a:t>&lt; 45%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3520440"/>
            <a:ext cx="1042415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artifact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959352"/>
            <a:ext cx="1920240" cy="2468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D64550"/>
                </a:solidFill>
                <a:latin typeface="Microsoft YaHei"/>
              </a:rPr>
              <a:t>仅限电事件或 uncertain_peak_or_noise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9704" y="4645152"/>
            <a:ext cx="2395728" cy="841248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4754880"/>
            <a:ext cx="100584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3A712"/>
                </a:solidFill>
                <a:latin typeface="Microsoft YaHei"/>
              </a:rPr>
              <a:t>其余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800600"/>
            <a:ext cx="1042415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3A712"/>
                </a:solidFill>
                <a:latin typeface="Microsoft YaHei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5687568"/>
            <a:ext cx="2322576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80" b="1">
                <a:solidFill>
                  <a:srgbClr val="102A43"/>
                </a:solidFill>
                <a:latin typeface="Microsoft YaHei"/>
              </a:rPr>
              <a:t>低于 45% 并不自动等于 artifact；类型条件必须同时成立。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775" y="1645920"/>
            <a:ext cx="4151376" cy="4553712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1874519"/>
            <a:ext cx="301752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9E5B"/>
                </a:solidFill>
                <a:latin typeface="Microsoft YaHei"/>
              </a:rPr>
              <a:t>独立模板分与主要修正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304288"/>
            <a:ext cx="3657600" cy="3639312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1">
                <a:solidFill>
                  <a:srgbClr val="102A43"/>
                </a:solidFill>
                <a:latin typeface="Microsoft YaHei"/>
              </a:rPr>
              <a:t>template_confidence（不替代峰存在分）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1">
                <a:solidFill>
                  <a:srgbClr val="2E9E5B"/>
                </a:solidFill>
                <a:latin typeface="Microsoft YaHei"/>
              </a:rPr>
              <a:t>保留时间 50%｜宽度 30%｜对称性 15%｜非平顶性 5%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1">
                <a:solidFill>
                  <a:srgbClr val="102A43"/>
                </a:solidFill>
                <a:latin typeface="Microsoft YaHei"/>
              </a:rPr>
              <a:t>主要乘法修正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0">
                <a:solidFill>
                  <a:srgbClr val="243B53"/>
                </a:solidFill>
                <a:latin typeface="Microsoft YaHei"/>
              </a:rPr>
              <a:t>×0.75 高噪声且突出度不足；×0.65 靠近采集边缘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0">
                <a:solidFill>
                  <a:srgbClr val="243B53"/>
                </a:solidFill>
                <a:latin typeface="Microsoft YaHei"/>
              </a:rPr>
              <a:t>×0.25 明显纯电尖峰；×0.55 峰顶异常但证据矛盾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0">
                <a:solidFill>
                  <a:srgbClr val="243B53"/>
                </a:solidFill>
                <a:latin typeface="Microsoft YaHei"/>
              </a:rPr>
              <a:t>×0.90 真实峰体带峰顶尖点；×0.80 超宽鼓包／基线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0">
                <a:solidFill>
                  <a:srgbClr val="243B53"/>
                </a:solidFill>
                <a:latin typeface="Microsoft YaHei"/>
              </a:rPr>
              <a:t>×0.65 负峰与脉冲重合；×0.65 两侧正峰夹出的浅谷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1">
                <a:solidFill>
                  <a:srgbClr val="F3A712"/>
                </a:solidFill>
                <a:latin typeface="Microsoft YaHei"/>
              </a:rPr>
              <a:t>结构化背景残差：峰宽奖励减半，置信度上限 0.74。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70" b="1">
                <a:solidFill>
                  <a:srgbClr val="D64550"/>
                </a:solidFill>
                <a:latin typeface="Microsoft YaHei"/>
              </a:rPr>
              <a:t>模板命中只能提供匹配证据，不能覆盖强电形态。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峰存在置信度权重｜正峰与负峰使用不同证据组合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5321808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2510"/>
            <a:ext cx="5321808" cy="28014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72200" y="1005840"/>
            <a:ext cx="5321808" cy="4434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36590"/>
            <a:ext cx="5321808" cy="297333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5577840"/>
            <a:ext cx="10698480" cy="65836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760720"/>
            <a:ext cx="10222992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02A43"/>
                </a:solidFill>
                <a:latin typeface="Microsoft YaHei"/>
              </a:rPr>
              <a:t>各证据先独立归一化到 0～1，再按上述权重相加；工况修正系数在加权之后施加。负峰还必须先通过双侧谷深和带符号下探门，未通过者不会进入评分输出。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正候选形态权重｜真实峰体分与电干扰分并行计算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914400"/>
            <a:ext cx="562356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52" y="914400"/>
            <a:ext cx="5495814" cy="45262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153912" y="914400"/>
            <a:ext cx="562356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050224"/>
            <a:ext cx="5623560" cy="425463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0352" y="5532120"/>
            <a:ext cx="10972800" cy="731520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5696712"/>
            <a:ext cx="1051560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>
                <a:solidFill>
                  <a:srgbClr val="102A43"/>
                </a:solidFill>
                <a:latin typeface="Microsoft YaHei"/>
              </a:rPr>
              <a:t>路由：可靠峰顶异常 + 峰体联合门通过 + peak_body_score ≥ 0.72 且不低于电干扰分 → 带峰顶尖点的色谱峰（×0.90）；电干扰分 ≥ 0.45、峰体门失败且存在尖点或 FWHM &lt; 0.018 min → 纯电尖峰（×0.25）；证据矛盾 → review 倾向（×0.55）。仅正候选计算这两项分数。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带峰顶尖点的色谱峰｜去尖后峰体必须通过的联合门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11000232" cy="502920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69848"/>
            <a:ext cx="1056132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02A43"/>
                </a:solidFill>
                <a:latin typeface="Microsoft YaHei"/>
              </a:rPr>
              <a:t>该联合门只用于正候选：先证明尖点下面仍有完整峰体，再决定“保留峰”还是“排除毛刺”。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3401568" cy="461772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246888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80ED"/>
                </a:solidFill>
                <a:latin typeface="Microsoft YaHei"/>
              </a:rPr>
              <a:t>二选一宽度入口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2395728"/>
            <a:ext cx="2834640" cy="12252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560320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F80ED"/>
                </a:solidFill>
                <a:latin typeface="Microsoft YaHei"/>
              </a:rPr>
              <a:t>入口 A｜绝对峰体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907792"/>
            <a:ext cx="2340864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43B53"/>
                </a:solidFill>
                <a:latin typeface="Microsoft YaHei"/>
              </a:rPr>
              <a:t>FWHM ≥ 0.060 min
且 area_shape_factor ≥ 1.15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3758184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627D98"/>
                </a:solidFill>
                <a:latin typeface="Microsoft YaHei"/>
              </a:rPr>
              <a:t>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160520"/>
            <a:ext cx="283464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325112"/>
            <a:ext cx="23317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E9E5B"/>
                </a:solidFill>
                <a:latin typeface="Microsoft YaHei"/>
              </a:rPr>
              <a:t>入口 B｜模板相对峰体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672584"/>
            <a:ext cx="2359152" cy="8412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243B53"/>
                </a:solidFill>
                <a:latin typeface="Microsoft YaHei"/>
              </a:rPr>
              <a:t>存在模板，width_min 位于
[0.75×模板宽度下限，1.25×模板宽度上限]
且 area_shape_factor ≥ 0.85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05656" y="1627632"/>
            <a:ext cx="3685032" cy="4617720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874519"/>
            <a:ext cx="301752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9E5B"/>
                </a:solidFill>
                <a:latin typeface="Microsoft YaHei"/>
              </a:rPr>
              <a:t>其余条件必须全部满足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2377440"/>
            <a:ext cx="3200400" cy="361188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symmetry ≥ 0.75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top_width_ratio ≤ 0.45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baseline_change_ratio ≤ 0.25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min(rise_continuity, fall_continuity) ≥ 0.80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apex_core_area_fraction ≤ 0.35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despiked_height_retention ≥ 0.65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despiked_prominence_retention ≥ 0.65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despiked_area_retention ≥ 0.65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0">
                <a:solidFill>
                  <a:srgbClr val="243B53"/>
                </a:solidFill>
                <a:latin typeface="Microsoft YaHei"/>
              </a:rPr>
              <a:t>apex_quadratic_excess_ratio ≤ 0.25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60" b="1">
                <a:solidFill>
                  <a:srgbClr val="D64550"/>
                </a:solidFill>
                <a:latin typeface="Microsoft YaHei"/>
              </a:rPr>
              <a:t>上述条件任意一项失败，都不能声称去尖后峰体已经可靠存活。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1627632"/>
            <a:ext cx="3511296" cy="4617720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1874519"/>
            <a:ext cx="219456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3A712"/>
                </a:solidFill>
                <a:latin typeface="Microsoft YaHei"/>
              </a:rPr>
              <a:t>最终路由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359152"/>
            <a:ext cx="3017520" cy="3639312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1｜先有可靠尖点证据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apex_spike_flag = true。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2E9E5B"/>
                </a:solidFill>
                <a:latin typeface="Microsoft YaHei"/>
              </a:rPr>
              <a:t>2｜保留为真实峰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联合门通过、peak_body_score ≥ 0.72，且 peak_body_score ≥ electrical_interference_score → peak_with_apex_spike，置信度 ×0.90。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D64550"/>
                </a:solidFill>
                <a:latin typeface="Microsoft YaHei"/>
              </a:rPr>
              <a:t>3｜判为纯电尖峰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联合门失败，电干扰分 ≥ 0.45，且有尖点或 FWHM &lt; 0.018 min → 置信度 ×0.25。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F3A712"/>
                </a:solidFill>
                <a:latin typeface="Microsoft YaHei"/>
              </a:rPr>
              <a:t>4｜保留歧义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两边条件都不足 → electrical_interference_candidate，置信度 ×0.55，通常进入 review。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2E9E5B"/>
                </a:solidFill>
                <a:latin typeface="Microsoft YaHei"/>
              </a:rPr>
              <a:t>A7 两个事件通过了此联合门。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峰类型判别标准 I｜正峰、宽峰、鼓包峰与重叠关系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3493008" cy="532180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188720"/>
            <a:ext cx="219456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80ED"/>
                </a:solidFill>
                <a:latin typeface="Microsoft YaHei"/>
              </a:rPr>
              <a:t>模板窗口内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063240" cy="431596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普通正峰 normal_positive_peak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width_min 位于模板宽度上下限，且 symmetry 不低于模板下限。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2E9E5B"/>
                </a:solidFill>
                <a:latin typeface="Microsoft YaHei"/>
              </a:rPr>
              <a:t>鼓包上的正峰 positive_peak_on_hump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普通峰条件成立，同时 baseline_change_ratio ≥ 0.25，或峰顶／至少 50% 峰窗落入 bump 区。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窄正峰 narrow_positive_peak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宽度低于模板下限；若 top_width_ratio ≥ 0.55 或对称性不足，则改为电干扰候选并 ×0.45。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F3A712"/>
                </a:solidFill>
                <a:latin typeface="Microsoft YaHei"/>
              </a:rPr>
              <a:t>宽峰／重叠峰 broad_or_overlapped_peak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宽度高于模板宽度上限。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9" b="1">
                <a:solidFill>
                  <a:srgbClr val="D64550"/>
                </a:solidFill>
                <a:latin typeface="Microsoft YaHei"/>
              </a:rPr>
              <a:t>其余无法稳定解释的模板内事件 → uncertain_peak_or_noise。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7952" y="960120"/>
            <a:ext cx="3858768" cy="532180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219456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9E5B"/>
                </a:solidFill>
                <a:latin typeface="Microsoft YaHei"/>
              </a:rPr>
              <a:t>模板窗口外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627632"/>
            <a:ext cx="3401568" cy="435254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102A43"/>
                </a:solidFill>
                <a:latin typeface="Microsoft YaHei"/>
              </a:rPr>
              <a:t>未映射正峰 unassigned_positive_peak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0">
                <a:solidFill>
                  <a:srgbClr val="243B53"/>
                </a:solidFill>
                <a:latin typeface="Microsoft YaHei"/>
              </a:rPr>
              <a:t>最佳参考宽度得分 ≥ 0.45 且 symmetry ≥ 0.20；表示峰存在但尚未绑定 T1–T6／组分。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6C5CE7"/>
                </a:solidFill>
                <a:latin typeface="Microsoft YaHei"/>
              </a:rPr>
              <a:t>平缓宽峰 gentle_broad_peak_candidate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0">
                <a:solidFill>
                  <a:srgbClr val="243B53"/>
                </a:solidFill>
                <a:latin typeface="Microsoft YaHei"/>
              </a:rPr>
              <a:t>width &gt; 0.80、FWHM ≥ 0.30 min、width/FWHM ≤ 6、symmetry ≥ 0.25、top_width_ratio ≤ 0.65、相对突出度 ≥ 0.003、SNR ≥ 8、baseline_change_ratio ≤ 3、双侧深度 ≥ 0.002、无脉冲且远离边缘。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F3A712"/>
                </a:solidFill>
                <a:latin typeface="Microsoft YaHei"/>
              </a:rPr>
              <a:t>宽鼓包／基线 broad_hump_or_baseline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0">
                <a:solidFill>
                  <a:srgbClr val="243B53"/>
                </a:solidFill>
                <a:latin typeface="Microsoft YaHei"/>
              </a:rPr>
              <a:t>width &gt; 0.80 min 但不满足平缓宽峰联合门；置信度 ×0.80。若最终达到确认线，则改名 broad_positive_peak。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1">
                <a:solidFill>
                  <a:srgbClr val="627D98"/>
                </a:solidFill>
                <a:latin typeface="Microsoft YaHei"/>
              </a:rPr>
              <a:t>模板外极小波纹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69" b="0">
                <a:solidFill>
                  <a:srgbClr val="243B53"/>
                </a:solidFill>
                <a:latin typeface="Microsoft YaHei"/>
              </a:rPr>
              <a:t>低于普通 0.0008／高噪声 0.01 相对突出度门且非脉冲、非超宽事件时直接过滤。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960120"/>
            <a:ext cx="3273552" cy="5321808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188720"/>
            <a:ext cx="219456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3A712"/>
                </a:solidFill>
                <a:latin typeface="Microsoft YaHei"/>
              </a:rPr>
              <a:t>重叠与状态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627632"/>
            <a:ext cx="2788920" cy="43434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同一模板多候选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允许多个 confirmed；模板匹配最好者保留原类型，其余为 secondary_or_overlapping_candidate。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相邻确认峰窗口交叠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两个 95% 自动峰窗口相交时标为 overlapping_positive_peak；带峰顶尖点类型优先保留，重叠写入 reasons。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19" b="1">
                <a:solidFill>
                  <a:srgbClr val="D64550"/>
                </a:solidFill>
                <a:latin typeface="Microsoft YaHei"/>
              </a:rPr>
              <a:t>类型与状态分离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“宽峰”“重叠”“未映射”描述形态或模板关系，不自动等于 review。最终状态仍由 peak_confidence 与类型条件共同决定。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019" b="1">
                <a:solidFill>
                  <a:srgbClr val="D64550"/>
                </a:solidFill>
                <a:latin typeface="Microsoft YaHei"/>
              </a:rPr>
              <a:t>当前只识别重叠关系，尚未做多峰参数化解卷积和面积分配。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峰类型判别标准 II｜负峰、电干扰与结构化背景残差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60120"/>
            <a:ext cx="3456432" cy="5321808"/>
          </a:xfrm>
          <a:prstGeom prst="roundRect">
            <a:avLst/>
          </a:prstGeom>
          <a:solidFill>
            <a:srgbClr val="F3EEFF"/>
          </a:solidFill>
          <a:ln w="10160">
            <a:solidFill>
              <a:srgbClr val="D9C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188720"/>
            <a:ext cx="201168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C5CE7"/>
                </a:solidFill>
                <a:latin typeface="Microsoft YaHei"/>
              </a:rPr>
              <a:t>负峰分支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3017520" cy="431596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1">
                <a:solidFill>
                  <a:srgbClr val="102A43"/>
                </a:solidFill>
                <a:latin typeface="Microsoft YaHei"/>
              </a:rPr>
              <a:t>先通过双门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0">
                <a:solidFill>
                  <a:srgbClr val="243B53"/>
                </a:solidFill>
                <a:latin typeface="Microsoft YaHei"/>
              </a:rPr>
              <a:t>普通工况：bilateral_depth_relative ≥ 0.005 且 signed_depth_relative ≥ 0.008。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0">
                <a:solidFill>
                  <a:srgbClr val="243B53"/>
                </a:solidFill>
                <a:latin typeface="Microsoft YaHei"/>
              </a:rPr>
              <a:t>高噪声：门槛提高到 0.01 和 0.02。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1">
                <a:solidFill>
                  <a:srgbClr val="D64550"/>
                </a:solidFill>
                <a:latin typeface="Microsoft YaHei"/>
              </a:rPr>
              <a:t>negative_electrical_spike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0">
                <a:solidFill>
                  <a:srgbClr val="243B53"/>
                </a:solidFill>
                <a:latin typeface="Microsoft YaHei"/>
              </a:rPr>
              <a:t>width_min &lt; 0.018 min，置信度 ×0.25。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1">
                <a:solidFill>
                  <a:srgbClr val="6C5CE7"/>
                </a:solidFill>
                <a:latin typeface="Microsoft YaHei"/>
              </a:rPr>
              <a:t>negative_peak / broad_negative_peak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0">
                <a:solidFill>
                  <a:srgbClr val="243B53"/>
                </a:solidFill>
                <a:latin typeface="Microsoft YaHei"/>
              </a:rPr>
              <a:t>0.018～0.80 min 为负峰；&gt; 0.80 min 为宽负峰。与暂定脉冲重合时 ×0.65。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1">
                <a:solidFill>
                  <a:srgbClr val="F3A712"/>
                </a:solidFill>
                <a:latin typeface="Microsoft YaHei"/>
              </a:rPr>
              <a:t>interpeak_valley_or_negative_peak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010" b="0">
                <a:solidFill>
                  <a:srgbClr val="243B53"/>
                </a:solidFill>
                <a:latin typeface="Microsoft YaHei"/>
              </a:rPr>
              <a:t>signed_depth_relative &lt; 0.05，且前后各 0.8 min 内均存在正峰时视为谷底／负峰歧义，置信度再 ×0.65。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2232" y="960120"/>
            <a:ext cx="3493008" cy="5321808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188720"/>
            <a:ext cx="265176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64550"/>
                </a:solidFill>
                <a:latin typeface="Microsoft YaHei"/>
              </a:rPr>
              <a:t>峰顶尖点／电干扰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627632"/>
            <a:ext cx="3035808" cy="43434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1">
                <a:solidFill>
                  <a:srgbClr val="102A43"/>
                </a:solidFill>
                <a:latin typeface="Microsoft YaHei"/>
              </a:rPr>
              <a:t>可靠峰顶异常入口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0">
                <a:solidFill>
                  <a:srgbClr val="243B53"/>
                </a:solidFill>
                <a:latin typeface="Microsoft YaHei"/>
              </a:rPr>
              <a:t>暂定脉冲重合且二次拟合无法解释的峰顶超额／突出度 ≥ 0.015。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1">
                <a:solidFill>
                  <a:srgbClr val="2E9E5B"/>
                </a:solidFill>
                <a:latin typeface="Microsoft YaHei"/>
              </a:rPr>
              <a:t>真实峰带峰顶尖点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0">
                <a:solidFill>
                  <a:srgbClr val="243B53"/>
                </a:solidFill>
                <a:latin typeface="Microsoft YaHei"/>
              </a:rPr>
              <a:t>峰体联合门通过、peak_body_score ≥ 0.72 且不低于电干扰分 → peak_with_apex_spike，×0.90。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1">
                <a:solidFill>
                  <a:srgbClr val="D64550"/>
                </a:solidFill>
                <a:latin typeface="Microsoft YaHei"/>
              </a:rPr>
              <a:t>纯电尖峰／电干扰候选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0">
                <a:solidFill>
                  <a:srgbClr val="243B53"/>
                </a:solidFill>
                <a:latin typeface="Microsoft YaHei"/>
              </a:rPr>
              <a:t>electrical_interference_score ≥ 0.45、峰体门失败，且存在可靠尖点或 FWHM &lt; 0.018 min → ×0.25。模板外叫 electrical_spike，模板内叫 electrical_interference_candidate。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1">
                <a:solidFill>
                  <a:srgbClr val="F3A712"/>
                </a:solidFill>
                <a:latin typeface="Microsoft YaHei"/>
              </a:rPr>
              <a:t>证据矛盾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0">
                <a:solidFill>
                  <a:srgbClr val="243B53"/>
                </a:solidFill>
                <a:latin typeface="Microsoft YaHei"/>
              </a:rPr>
              <a:t>有尖点但既不能救回峰体、又不足以判纯电尖峰 → electrical_interference_candidate，×0.55，通常 review。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90" b="1">
                <a:solidFill>
                  <a:srgbClr val="D64550"/>
                </a:solidFill>
                <a:latin typeface="Microsoft YaHei"/>
              </a:rPr>
              <a:t>保留时间命中不能覆盖强电形态。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960120"/>
            <a:ext cx="3685032" cy="5321808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188720"/>
            <a:ext cx="2651760" cy="3017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3A712"/>
                </a:solidFill>
                <a:latin typeface="Microsoft YaHei"/>
              </a:rPr>
              <a:t>结构化背景残差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627632"/>
            <a:ext cx="3218688" cy="43434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文件级条件满足其一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baseline_excursion_ratio ≥ 0.08；或 baseline_curvature ≥ 0.04；或 |endpoint_drift_ratio| ≥ 0.05。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候选级条件必须全部满足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relative_prominence &lt; 0.005；width_min &lt; 0.80 min；前后 ±0.50 min 弱候选数 ≥ 2；bilateral_depth_relative &lt; 0.0015。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1">
                <a:solidFill>
                  <a:srgbClr val="F3A712"/>
                </a:solidFill>
                <a:latin typeface="Microsoft YaHei"/>
              </a:rPr>
              <a:t>处理结果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0">
                <a:solidFill>
                  <a:srgbClr val="243B53"/>
                </a:solidFill>
                <a:latin typeface="Microsoft YaHei"/>
              </a:rPr>
              <a:t>电事件／artifact 优先，不会被残差类型覆盖；其余通过门控者改为 structured_background_residual。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1">
                <a:solidFill>
                  <a:srgbClr val="D64550"/>
                </a:solidFill>
                <a:latin typeface="Microsoft YaHei"/>
              </a:rPr>
              <a:t>参考峰宽奖励减半，置信度上限 0.74，保持 review 并写入审计 CSV。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019" b="1">
                <a:solidFill>
                  <a:srgbClr val="102A43"/>
                </a:solidFill>
                <a:latin typeface="Microsoft YaHei"/>
              </a:rPr>
              <a:t>它表示更像非平稳背景波纹，不表示原始数据被删除。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代表性修正｜A7：尖顶不再等于整峰是电干扰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E9E5B"/>
                </a:solidFill>
                <a:latin typeface="Microsoft YaHei"/>
              </a:rPr>
              <a:t>修正结果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两个事件保留“峰顶尖点”标记，同时确认其完整色谱峰体。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5541264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51189"/>
            <a:ext cx="5541264" cy="13715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1536192"/>
            <a:ext cx="532180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04523"/>
            <a:ext cx="5321808" cy="266490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82.5%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0.4333 min 峰置信度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0.955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5138928"/>
            <a:ext cx="205740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52928" y="5138928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35808" y="5230368"/>
            <a:ext cx="178308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90.0%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5696712"/>
            <a:ext cx="178308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0.5650 min 峰置信度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5943600"/>
            <a:ext cx="178308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峰体分 0.961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4064" y="5138928"/>
            <a:ext cx="6309360" cy="1042415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5385816"/>
            <a:ext cx="5852160" cy="5303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1">
                <a:solidFill>
                  <a:srgbClr val="243B53"/>
                </a:solidFill>
                <a:latin typeface="Microsoft YaHei"/>
              </a:rPr>
              <a:t>FWHM（Full Width at Half Maximum，半高全宽）是峰高 50% 处左右交点的时间差，用来描述峰宽，不能单独判定毛刺。本例 FWHM 约 0.071/0.093 min、对称度 0.994/0.973；去尖后峰高仍保留 99.5% / 99.8%。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代表性工况｜A3：鼓包与背景涟漪被分层处理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3A712"/>
                </a:solidFill>
                <a:latin typeface="Microsoft YaHei"/>
              </a:rPr>
              <a:t>鼓包成果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宽背景单独标黄；弱密集波动保留为结构化背景残差，不自我确认。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988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17" y="1536192"/>
            <a:ext cx="6856533" cy="4498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27632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27632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19072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0.268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85416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基线最大起伏／量程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852928"/>
            <a:ext cx="2907792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2852928"/>
            <a:ext cx="73152" cy="1042415"/>
          </a:xfrm>
          <a:prstGeom prst="rect">
            <a:avLst/>
          </a:prstGeom>
          <a:solidFill>
            <a:srgbClr val="F3A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2944368"/>
            <a:ext cx="2633472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A712"/>
                </a:solidFill>
                <a:latin typeface="Microsoft YaHei"/>
              </a:rPr>
              <a:t>6.52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410712"/>
            <a:ext cx="2633472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最长鼓包时长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10928" y="4078224"/>
            <a:ext cx="13441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10928" y="4078224"/>
            <a:ext cx="73152" cy="1042415"/>
          </a:xfrm>
          <a:prstGeom prst="rect">
            <a:avLst/>
          </a:prstGeom>
          <a:solidFill>
            <a:srgbClr val="627D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7" y="4169663"/>
            <a:ext cx="10698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27D98"/>
                </a:solidFill>
                <a:latin typeface="Microsoft YaHei"/>
              </a:rPr>
              <a:t>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7" y="4636008"/>
            <a:ext cx="10698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背景残差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5404104"/>
            <a:ext cx="2898648" cy="521207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首尾值接近并不代表无鼓包；A3 由中间最大起伏和持续区间被识别。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代表性工况｜F1：正峰与负峰使用有符号分支共同输出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C5CE7"/>
                </a:solidFill>
                <a:latin typeface="Microsoft YaHei"/>
              </a:rPr>
              <a:t>正负峰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强负峰达到标准即可确认，不再因为“负号”自动进入 review。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768096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229" y="1554480"/>
            <a:ext cx="6898341" cy="4526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394192" y="1664208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1664208"/>
            <a:ext cx="73152" cy="104241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755648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C5CE7"/>
                </a:solidFill>
                <a:latin typeface="Microsoft YaHei"/>
              </a:rPr>
              <a:t>0.3267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221992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确认负峰峰顶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468880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97.8%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4192" y="2926080"/>
            <a:ext cx="2834640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2926080"/>
            <a:ext cx="73152" cy="1042415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017520"/>
            <a:ext cx="2560320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9E5B"/>
                </a:solidFill>
                <a:latin typeface="Microsoft YaHei"/>
              </a:rPr>
              <a:t>0.3983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483864"/>
            <a:ext cx="2560320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确认正峰峰顶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730752"/>
            <a:ext cx="2560320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置信度 94.3%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4206240"/>
            <a:ext cx="2834640" cy="149961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86216" y="4407408"/>
            <a:ext cx="2468880" cy="111556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1">
                <a:solidFill>
                  <a:srgbClr val="102A43"/>
                </a:solidFill>
                <a:latin typeface="Microsoft YaHei"/>
              </a:rPr>
              <a:t>校正值保留符号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6C5CE7"/>
                </a:solidFill>
                <a:latin typeface="Microsoft YaHei"/>
              </a:rPr>
              <a:t>负峰 -29.59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E9E5B"/>
                </a:solidFill>
                <a:latin typeface="Microsoft YaHei"/>
              </a:rPr>
              <a:t>正峰 34.93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40" b="0">
                <a:solidFill>
                  <a:srgbClr val="243B53"/>
                </a:solidFill>
                <a:latin typeface="Microsoft YaHei"/>
              </a:rPr>
              <a:t>确认峰同步标注起止边界。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代表性工况｜H1：强电信号干扰保持伪峰状态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896112"/>
            <a:ext cx="11045952" cy="475488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05840"/>
            <a:ext cx="118872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电干扰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987552"/>
            <a:ext cx="9464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43B53"/>
                </a:solidFill>
                <a:latin typeface="Microsoft YaHei"/>
              </a:rPr>
              <a:t>峰宽、采样支持、顶部能量、斜率跳变、对称性与脉冲上下文联合判断。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7424927" cy="446227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8304"/>
            <a:ext cx="7424927" cy="371804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156448" y="160934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60934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70078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3.9333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216712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41401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23.8%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284378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284378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2935224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6.1400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40156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64845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5.1%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4078224"/>
            <a:ext cx="2944368" cy="104241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4078224"/>
            <a:ext cx="73152" cy="1042415"/>
          </a:xfrm>
          <a:prstGeom prst="rect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7" y="4169663"/>
            <a:ext cx="267004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D64550"/>
                </a:solidFill>
                <a:latin typeface="Microsoft YaHei"/>
              </a:rPr>
              <a:t>6.5333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636008"/>
            <a:ext cx="2670048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43B53"/>
                </a:solidFill>
                <a:latin typeface="Microsoft YaHei"/>
              </a:rPr>
              <a:t>min · 电尖峰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4882896"/>
            <a:ext cx="2670048" cy="1554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627D98"/>
                </a:solidFill>
                <a:latin typeface="Microsoft YaHei"/>
              </a:rPr>
              <a:t>artifact · 峰置信度 25.0%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5431536"/>
            <a:ext cx="292608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1">
                <a:solidFill>
                  <a:srgbClr val="102A43"/>
                </a:solidFill>
                <a:latin typeface="Microsoft YaHei"/>
              </a:rPr>
              <a:t>保留时间命中不能覆盖强电形态证据；干扰仍进入可审计 CSV。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重点歧义｜H2 约 0.600 min：算法结论不等于人工真值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11045952" cy="566928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60704"/>
            <a:ext cx="1056132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D64550"/>
                </a:solidFill>
                <a:latin typeface="Microsoft YaHei"/>
              </a:rPr>
              <a:t>重要：当前输出是“电干扰候选／待复核”，不是已经确认的人工真值。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5532120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7098"/>
            <a:ext cx="5532120" cy="13837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99632" y="1664208"/>
            <a:ext cx="5340096" cy="2889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771928"/>
            <a:ext cx="5340096" cy="267406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02920" y="4736592"/>
            <a:ext cx="11045952" cy="1389888"/>
          </a:xfrm>
          <a:prstGeom prst="roundRect">
            <a:avLst/>
          </a:prstGeom>
          <a:solidFill>
            <a:srgbClr val="FFF7DF"/>
          </a:solidFill>
          <a:ln w="10160">
            <a:solidFill>
              <a:srgbClr val="F0D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4919472"/>
            <a:ext cx="10533888" cy="1042415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F3A712"/>
                </a:solidFill>
                <a:latin typeface="Microsoft YaHei"/>
              </a:rPr>
              <a:t>算法输出：电信号干扰候选 / 待复核 / 峰置信度 51.3%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“像峰”证据：FWHM 0.0917 min、对称度 0.982、峰体分 0.869。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0">
                <a:solidFill>
                  <a:srgbClr val="243B53"/>
                </a:solidFill>
                <a:latin typeface="Microsoft YaHei"/>
              </a:rPr>
              <a:t>“异常”证据：峰顶异常=True，反事实峰体门=False；电干扰分仅 0.048。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110" b="1">
                <a:solidFill>
                  <a:srgbClr val="D64550"/>
                </a:solidFill>
                <a:latin typeface="Microsoft YaHei"/>
              </a:rPr>
              <a:t>正确处置：保留 review，建立人工标签后再校准；不能仅凭文件名或算法类别宣称它一定是干扰。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噪声与结构化背景：减少“把背景涟漪数成峰”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87552"/>
            <a:ext cx="5724144" cy="4553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6336"/>
            <a:ext cx="5724144" cy="35561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355080" y="987552"/>
            <a:ext cx="5166360" cy="3675887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50127"/>
            <a:ext cx="5166360" cy="31507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37960" y="4846320"/>
            <a:ext cx="4809744" cy="1152144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5029200"/>
            <a:ext cx="4407408" cy="82296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627D98"/>
                </a:solidFill>
                <a:latin typeface="Microsoft YaHei"/>
              </a:rPr>
              <a:t>结构化背景残差：155 个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0">
                <a:solidFill>
                  <a:srgbClr val="243B53"/>
                </a:solidFill>
                <a:latin typeface="Microsoft YaHei"/>
              </a:rPr>
              <a:t>它们显示为灰色审计点，置信度受限，不会在鼓包区内自行升级为确认峰。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130" b="1">
                <a:solidFill>
                  <a:srgbClr val="102A43"/>
                </a:solidFill>
                <a:latin typeface="Microsoft YaHei"/>
              </a:rPr>
              <a:t>高噪声也不是一票否决：强而稳定的模板峰仍可确认。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原始分段放大图：验证弱峰与局部波动，不改变任何数据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78408"/>
            <a:ext cx="7516368" cy="528523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36" y="978408"/>
            <a:ext cx="7114735" cy="52852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47888" y="978408"/>
            <a:ext cx="3246120" cy="5285232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1243584"/>
            <a:ext cx="2761488" cy="466344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用途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观察全量程图中被强峰压扁的弱信号、噪声、台阶和局部漂移。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数据原则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只缩放显示坐标轴；仍是原始 CSV 样本，不平滑、不插值、不扣基线。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F3A712"/>
                </a:solidFill>
                <a:latin typeface="Microsoft YaHei"/>
              </a:rPr>
              <a:t>注意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各分段纵轴独立，不能直接比较屏幕高度；定量应回到 CSV。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1">
                <a:solidFill>
                  <a:srgbClr val="2F80ED"/>
                </a:solidFill>
                <a:latin typeface="Microsoft YaHei"/>
              </a:rPr>
              <a:t>自动化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00" b="0">
                <a:solidFill>
                  <a:srgbClr val="243B53"/>
                </a:solidFill>
                <a:latin typeface="Microsoft YaHei"/>
              </a:rPr>
              <a:t>正式输出中已检测到 41 张 raw_zoom_plots。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最终检测结果横向对比｜五类工况的输出构成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7086600" cy="4983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804986"/>
            <a:ext cx="7086600" cy="338518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05840"/>
            <a:ext cx="3685032" cy="498348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261872"/>
            <a:ext cx="3218688" cy="444398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2F80ED"/>
                </a:solidFill>
                <a:latin typeface="Microsoft YaHei"/>
              </a:rPr>
              <a:t>如何解读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参考标气：30/39 个候选被确认，未输出 artifact。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鼓包：108/176 进入复核；宽背景被保留而非强行算峰。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噪声：候选最多（n=292），review 占主导，体现保守策略。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负峰：确认 29 个；负号本身不再触发降级。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0">
                <a:solidFill>
                  <a:srgbClr val="243B53"/>
                </a:solidFill>
                <a:latin typeface="Microsoft YaHei"/>
              </a:rPr>
              <a:t>电干扰：artifact 10 个，占比为五类中最高。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重要边界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150" b="1">
                <a:solidFill>
                  <a:srgbClr val="D64550"/>
                </a:solidFill>
                <a:latin typeface="Microsoft YaHei"/>
              </a:rPr>
              <a:t>这是算法最终输出构成，不是准确率、召回率或人工真值对比；建立逐峰标签后才能计算性能指标。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最终检测对比｜相似的尖顶，为什么 A7 是峰而 H1 是干扰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65836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原始数据局部放大（未预处理）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914400"/>
            <a:ext cx="2743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最终检测与分类标注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914400"/>
            <a:ext cx="17373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对比结论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88720"/>
            <a:ext cx="658368" cy="2267712"/>
          </a:xfrm>
          <a:prstGeom prst="roundRect">
            <a:avLst/>
          </a:prstGeom>
          <a:solidFill>
            <a:srgbClr val="2E9E5B"/>
          </a:solidFill>
          <a:ln w="1016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65376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899985"/>
            <a:ext cx="4005072" cy="8451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103120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4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319802"/>
            <a:ext cx="4005072" cy="200554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765792" y="1188720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2E9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1371600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2E9E5B"/>
                </a:solidFill>
                <a:latin typeface="Microsoft YaHei"/>
              </a:rPr>
              <a:t>连续峰体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0.4333 / 0.5650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置信度 82.5% / 90.0%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去尖后峰体仍在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2E9E5B"/>
                </a:solidFill>
                <a:latin typeface="Microsoft YaHei"/>
              </a:rPr>
              <a:t>→ 均确认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75887"/>
            <a:ext cx="658368" cy="2267712"/>
          </a:xfrm>
          <a:prstGeom prst="roundRect">
            <a:avLst/>
          </a:prstGeom>
          <a:solidFill>
            <a:srgbClr val="D64550"/>
          </a:solidFill>
          <a:ln w="1016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52544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H1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167326"/>
            <a:ext cx="4005072" cy="128483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0952" y="4590288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3806970"/>
            <a:ext cx="4005072" cy="200554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765792" y="3675887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3858768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D64550"/>
                </a:solidFill>
                <a:latin typeface="Microsoft YaHei"/>
              </a:rPr>
              <a:t>少点脉冲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斜率突变且顶部能量集中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artifact 共 8 个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保留时间不能覆盖强异常证据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D64550"/>
                </a:solidFill>
                <a:latin typeface="Microsoft YaHei"/>
              </a:rPr>
              <a:t>→ 排除/复核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53328"/>
            <a:ext cx="1071676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2A43"/>
                </a:solidFill>
                <a:latin typeface="Microsoft YaHei"/>
              </a:rPr>
              <a:t>对比核心：不能只看“尖不尖”；应检查完整峰体、宽度、连续性、对称性、斜率及去尖后的峰体保留。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最终检测对比｜鼓包背景与正负峰从原始数据到最终标注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65836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原始数据局部放大（未预处理）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0952" y="914400"/>
            <a:ext cx="27432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914400"/>
            <a:ext cx="400507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02A43"/>
                </a:solidFill>
                <a:latin typeface="Microsoft YaHei"/>
              </a:rPr>
              <a:t>最终检测与分类标注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65792" y="914400"/>
            <a:ext cx="173736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627D98"/>
                </a:solidFill>
                <a:latin typeface="Microsoft YaHei"/>
              </a:rPr>
              <a:t>对比结论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188720"/>
            <a:ext cx="658368" cy="2267712"/>
          </a:xfrm>
          <a:prstGeom prst="roundRect">
            <a:avLst/>
          </a:prstGeom>
          <a:solidFill>
            <a:srgbClr val="F3A712"/>
          </a:solidFill>
          <a:ln w="10160">
            <a:solidFill>
              <a:srgbClr val="F3A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65376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633984"/>
            <a:ext cx="4005072" cy="13771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0952" y="2103120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704" y="1188720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319802"/>
            <a:ext cx="4005072" cy="200554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765792" y="1188720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F3A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1371600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F3A712"/>
                </a:solidFill>
                <a:latin typeface="Microsoft YaHei"/>
              </a:rPr>
              <a:t>明显鼓包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最大起伏 26.8%量程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持续 6.52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确认 2 / 背景残差 27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F3A712"/>
                </a:solidFill>
                <a:latin typeface="Microsoft YaHei"/>
              </a:rPr>
              <a:t>→ 背景不冒充峰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75887"/>
            <a:ext cx="658368" cy="2267712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352544"/>
            <a:ext cx="603504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F1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8448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371093"/>
            <a:ext cx="4005072" cy="8773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0952" y="4590288"/>
            <a:ext cx="2743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0E8F87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3675887"/>
            <a:ext cx="4005072" cy="2267712"/>
          </a:xfrm>
          <a:prstGeom prst="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2704" y="3806970"/>
            <a:ext cx="4005072" cy="2005547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765792" y="3675887"/>
            <a:ext cx="1737360" cy="2267712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02952" y="3858768"/>
            <a:ext cx="1463040" cy="1938528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6C5CE7"/>
                </a:solidFill>
                <a:latin typeface="Microsoft YaHei"/>
              </a:rPr>
              <a:t>有符号双分支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负峰 0.3267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正峰 0.3983 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0">
                <a:solidFill>
                  <a:srgbClr val="243B53"/>
                </a:solidFill>
                <a:latin typeface="Microsoft YaHei"/>
              </a:rPr>
              <a:t>置信度 97.8% / 94.3%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940" b="1">
                <a:solidFill>
                  <a:srgbClr val="6C5CE7"/>
                </a:solidFill>
                <a:latin typeface="Microsoft YaHei"/>
              </a:rPr>
              <a:t>→ 正负均确认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53328"/>
            <a:ext cx="10716768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102A43"/>
                </a:solidFill>
                <a:latin typeface="Microsoft YaHei"/>
              </a:rPr>
              <a:t>左列始终为原始 CSV 样本的显示轴放大；右列才是经过基线、噪声、候选检测和分类后的最终结果。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当前能力边界与验证责任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51560"/>
            <a:ext cx="5394960" cy="4965192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C8E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98448"/>
            <a:ext cx="201168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E9E5B"/>
                </a:solidFill>
                <a:latin typeface="Microsoft YaHei"/>
              </a:rPr>
              <a:t>已经具备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4800600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动态噪声、双基线与有符号正负分支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普通峰、窄峰、宽峰、峰上峰、负峰候选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鼓包区域与结构化背景残差分离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多参数电干扰与“峰体 + 峰顶尖点”区分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峰顶、边界、置信度、证据分项和原始值输出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00" b="0">
                <a:solidFill>
                  <a:srgbClr val="243B53"/>
                </a:solidFill>
                <a:latin typeface="Microsoft YaHei"/>
              </a:rPr>
              <a:t>✓ 分析图、原始分段图和批量 CSV 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051560"/>
            <a:ext cx="5340096" cy="4965192"/>
          </a:xfrm>
          <a:prstGeom prst="roundRect">
            <a:avLst/>
          </a:prstGeom>
          <a:solidFill>
            <a:srgbClr val="FDEDEF"/>
          </a:solidFill>
          <a:ln w="10160">
            <a:solidFill>
              <a:srgbClr val="F4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98448"/>
            <a:ext cx="256032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64550"/>
                </a:solidFill>
                <a:latin typeface="Microsoft YaHei"/>
              </a:rPr>
              <a:t>仍需真值闭环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10512"/>
            <a:ext cx="4736592" cy="3621024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T1–T6 尚未绑定不同机型／通道的化学组分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普通重叠峰的解卷积与面积分配尚未完成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正负重叠后的定量面积尚未完成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鼓包与基线报警仍需人工标签验证召回率／误报率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! 电干扰排除率、峰型准确率需要逐峰人工真值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370" b="1">
                <a:solidFill>
                  <a:srgbClr val="D64550"/>
                </a:solidFill>
                <a:latin typeface="Microsoft YaHei"/>
              </a:rPr>
              <a:t>! 置信度是概率样评分，不是统计意义上的“真实概率”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0E8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19456"/>
            <a:ext cx="10652760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Microsoft YaHei"/>
              </a:rPr>
              <a:t>交付物与下一步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246888"/>
            <a:ext cx="50292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0E8F87"/>
                </a:solidFill>
                <a:latin typeface="Microsoft YaHe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758952"/>
            <a:ext cx="11109960" cy="13716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6556248"/>
            <a:ext cx="10881360" cy="146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627D98"/>
                </a:solidFill>
                <a:latin typeface="Microsoft YaHei"/>
              </a:rPr>
              <a:t>色谱峰检测成果展示 · v0.5.2  |  数据源：reliable_detector_results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024128"/>
            <a:ext cx="6611112" cy="5065776"/>
          </a:xfrm>
          <a:prstGeom prst="roundRect">
            <a:avLst/>
          </a:prstGeom>
          <a:solidFill>
            <a:srgbClr val="F4F7FA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80160"/>
            <a:ext cx="22860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2A43"/>
                </a:solidFill>
                <a:latin typeface="Microsoft YaHei"/>
              </a:rPr>
              <a:t>当前交付包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10512"/>
            <a:ext cx="5989320" cy="365760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源代码与配置：src/、configs/、run_detector.py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全量结果：all_detected_features.csv、confirmed_peaks.csv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复核清单：review_required.csv、interference_candidates.csv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背景审计：structured_background_residuals.csv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图像：plots/ 与 raw_zoom_plots/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0">
                <a:solidFill>
                  <a:srgbClr val="243B53"/>
                </a:solidFill>
                <a:latin typeface="Microsoft YaHei"/>
              </a:rPr>
              <a:t>说明：README、算法说明、技术总结与本演示稿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370" b="1">
                <a:solidFill>
                  <a:srgbClr val="0E8F87"/>
                </a:solidFill>
                <a:latin typeface="Microsoft YaHei"/>
              </a:rPr>
              <a:t>重生成：python scripts/generate_deliverables.py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024128"/>
            <a:ext cx="4133087" cy="5065776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C9D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80160"/>
            <a:ext cx="219456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80ED"/>
                </a:solidFill>
                <a:latin typeface="Microsoft YaHei"/>
              </a:rPr>
              <a:t>建议下一步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1810512"/>
            <a:ext cx="3547872" cy="3703320"/>
          </a:xfrm>
          <a:prstGeom prst="rect">
            <a:avLst/>
          </a:prstGeom>
          <a:noFill/>
        </p:spPr>
        <p:txBody>
          <a:bodyPr wrap="square" lIns="64008" rIns="45720" tIns="36576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1  建立逐峰人工真值表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峰位、峰型、边界、是否干扰。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2  按机型／通道校准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绑定组分名称并验证保留时间漂移。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3  建立量化指标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0">
                <a:solidFill>
                  <a:srgbClr val="243B53"/>
                </a:solidFill>
                <a:latin typeface="Microsoft YaHei"/>
              </a:rPr>
              <a:t>峰召回率、伪峰排除率、边界误差、面积误差。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2F80ED"/>
                </a:solidFill>
                <a:latin typeface="Microsoft YaHei"/>
              </a:rPr>
              <a:t>4  再进入解卷积与面积定量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70" b="1">
                <a:solidFill>
                  <a:srgbClr val="D64550"/>
                </a:solidFill>
                <a:latin typeface="Microsoft YaHei"/>
              </a:rPr>
              <a:t>先完成真值闭环，再扩大自动确认范围。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